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880" r:id="rId1"/>
  </p:sldMasterIdLst>
  <p:notesMasterIdLst>
    <p:notesMasterId r:id="rId48"/>
  </p:notesMasterIdLst>
  <p:sldIdLst>
    <p:sldId id="256" r:id="rId2"/>
    <p:sldId id="291" r:id="rId3"/>
    <p:sldId id="285" r:id="rId4"/>
    <p:sldId id="260" r:id="rId5"/>
    <p:sldId id="284" r:id="rId6"/>
    <p:sldId id="286" r:id="rId7"/>
    <p:sldId id="258" r:id="rId8"/>
    <p:sldId id="265" r:id="rId9"/>
    <p:sldId id="266" r:id="rId10"/>
    <p:sldId id="261" r:id="rId11"/>
    <p:sldId id="267" r:id="rId12"/>
    <p:sldId id="268" r:id="rId13"/>
    <p:sldId id="269" r:id="rId14"/>
    <p:sldId id="271" r:id="rId15"/>
    <p:sldId id="272" r:id="rId16"/>
    <p:sldId id="274" r:id="rId17"/>
    <p:sldId id="275" r:id="rId18"/>
    <p:sldId id="276" r:id="rId19"/>
    <p:sldId id="277" r:id="rId20"/>
    <p:sldId id="278" r:id="rId21"/>
    <p:sldId id="279" r:id="rId22"/>
    <p:sldId id="281" r:id="rId23"/>
    <p:sldId id="282" r:id="rId24"/>
    <p:sldId id="283" r:id="rId25"/>
    <p:sldId id="287" r:id="rId26"/>
    <p:sldId id="288" r:id="rId27"/>
    <p:sldId id="289" r:id="rId28"/>
    <p:sldId id="290" r:id="rId29"/>
    <p:sldId id="292" r:id="rId30"/>
    <p:sldId id="293" r:id="rId31"/>
    <p:sldId id="294" r:id="rId32"/>
    <p:sldId id="295" r:id="rId33"/>
    <p:sldId id="296" r:id="rId34"/>
    <p:sldId id="298" r:id="rId35"/>
    <p:sldId id="297" r:id="rId36"/>
    <p:sldId id="299" r:id="rId37"/>
    <p:sldId id="301" r:id="rId38"/>
    <p:sldId id="302" r:id="rId39"/>
    <p:sldId id="303" r:id="rId40"/>
    <p:sldId id="306" r:id="rId41"/>
    <p:sldId id="304" r:id="rId42"/>
    <p:sldId id="305" r:id="rId43"/>
    <p:sldId id="300" r:id="rId44"/>
    <p:sldId id="307" r:id="rId45"/>
    <p:sldId id="308" r:id="rId46"/>
    <p:sldId id="262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等深淺樣式 1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76" autoAdjust="0"/>
    <p:restoredTop sz="91983" autoAdjust="0"/>
  </p:normalViewPr>
  <p:slideViewPr>
    <p:cSldViewPr snapToGrid="0" snapToObjects="1">
      <p:cViewPr>
        <p:scale>
          <a:sx n="58" d="100"/>
          <a:sy n="58" d="100"/>
        </p:scale>
        <p:origin x="-2352" y="-13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3275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-21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1C3A52-77E8-4684-9A33-F101473160F1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TW" altLang="en-US"/>
        </a:p>
      </dgm:t>
    </dgm:pt>
    <dgm:pt modelId="{BB0481F3-B531-4F09-ADE5-8C3E7CC4909F}">
      <dgm:prSet phldrT="[文字]" custT="1"/>
      <dgm:spPr/>
      <dgm:t>
        <a:bodyPr/>
        <a:lstStyle/>
        <a:p>
          <a:r>
            <a:rPr lang="en-US" altLang="zh-TW" sz="2800" dirty="0" smtClean="0"/>
            <a:t>Caller calls the function</a:t>
          </a:r>
          <a:endParaRPr lang="zh-TW" altLang="en-US" sz="2800" dirty="0"/>
        </a:p>
      </dgm:t>
    </dgm:pt>
    <dgm:pt modelId="{22CC1B17-48B5-4DDB-809B-8063AAACBE0E}" type="parTrans" cxnId="{F16745C7-974B-49B4-BF74-88D0EA9E2747}">
      <dgm:prSet/>
      <dgm:spPr/>
      <dgm:t>
        <a:bodyPr/>
        <a:lstStyle/>
        <a:p>
          <a:endParaRPr lang="zh-TW" altLang="en-US" sz="2000"/>
        </a:p>
      </dgm:t>
    </dgm:pt>
    <dgm:pt modelId="{24DCDED2-3EC6-4C44-A230-5C9BEFBD0F4F}" type="sibTrans" cxnId="{F16745C7-974B-49B4-BF74-88D0EA9E2747}">
      <dgm:prSet custT="1"/>
      <dgm:spPr/>
      <dgm:t>
        <a:bodyPr/>
        <a:lstStyle/>
        <a:p>
          <a:endParaRPr lang="zh-TW" altLang="en-US" sz="2000"/>
        </a:p>
      </dgm:t>
    </dgm:pt>
    <dgm:pt modelId="{9EE956C1-FE08-4B49-9A41-88B7820923A7}">
      <dgm:prSet phldrT="[文字]" custT="1"/>
      <dgm:spPr/>
      <dgm:t>
        <a:bodyPr/>
        <a:lstStyle/>
        <a:p>
          <a:r>
            <a:rPr lang="en-US" altLang="zh-TW" sz="2800" dirty="0" err="1" smtClean="0"/>
            <a:t>Callee</a:t>
          </a:r>
          <a:r>
            <a:rPr lang="en-US" altLang="zh-TW" sz="2800" dirty="0" smtClean="0"/>
            <a:t> starts the function</a:t>
          </a:r>
          <a:endParaRPr lang="zh-TW" altLang="en-US" sz="2800" dirty="0"/>
        </a:p>
      </dgm:t>
    </dgm:pt>
    <dgm:pt modelId="{F514D35C-52D0-4128-8E2A-A9E1FAFB6900}" type="parTrans" cxnId="{6BD903A7-6E0C-4DA1-8191-9952042715F5}">
      <dgm:prSet/>
      <dgm:spPr/>
      <dgm:t>
        <a:bodyPr/>
        <a:lstStyle/>
        <a:p>
          <a:endParaRPr lang="zh-TW" altLang="en-US" sz="2000"/>
        </a:p>
      </dgm:t>
    </dgm:pt>
    <dgm:pt modelId="{060AE4D6-74A9-44DF-9B8D-16237BC8FB39}" type="sibTrans" cxnId="{6BD903A7-6E0C-4DA1-8191-9952042715F5}">
      <dgm:prSet custT="1"/>
      <dgm:spPr/>
      <dgm:t>
        <a:bodyPr/>
        <a:lstStyle/>
        <a:p>
          <a:endParaRPr lang="zh-TW" altLang="en-US" sz="2000"/>
        </a:p>
      </dgm:t>
    </dgm:pt>
    <dgm:pt modelId="{17F1F1EC-9B41-442C-9B53-6AF15FD2F937}">
      <dgm:prSet phldrT="[文字]" custT="1"/>
      <dgm:spPr>
        <a:noFill/>
      </dgm:spPr>
      <dgm:t>
        <a:bodyPr/>
        <a:lstStyle/>
        <a:p>
          <a:r>
            <a:rPr lang="en-US" altLang="zh-TW" sz="2800" dirty="0" err="1" smtClean="0">
              <a:solidFill>
                <a:schemeClr val="tx1"/>
              </a:solidFill>
            </a:rPr>
            <a:t>Callee</a:t>
          </a:r>
          <a:r>
            <a:rPr lang="en-US" altLang="zh-TW" sz="2800" dirty="0" smtClean="0">
              <a:solidFill>
                <a:schemeClr val="tx1"/>
              </a:solidFill>
            </a:rPr>
            <a:t> performs the function</a:t>
          </a:r>
          <a:endParaRPr lang="zh-TW" altLang="en-US" sz="2800" dirty="0">
            <a:solidFill>
              <a:schemeClr val="tx1"/>
            </a:solidFill>
          </a:endParaRPr>
        </a:p>
      </dgm:t>
    </dgm:pt>
    <dgm:pt modelId="{80B730A6-FA9D-43B8-A3C2-5C3AAB9D0101}" type="parTrans" cxnId="{8E5765EE-4655-4E66-BFA5-804A1ABE46C6}">
      <dgm:prSet/>
      <dgm:spPr/>
      <dgm:t>
        <a:bodyPr/>
        <a:lstStyle/>
        <a:p>
          <a:endParaRPr lang="zh-TW" altLang="en-US" sz="2000"/>
        </a:p>
      </dgm:t>
    </dgm:pt>
    <dgm:pt modelId="{255EC9DE-4304-4CCB-9EF1-0CD69AFB9868}" type="sibTrans" cxnId="{8E5765EE-4655-4E66-BFA5-804A1ABE46C6}">
      <dgm:prSet custT="1"/>
      <dgm:spPr/>
      <dgm:t>
        <a:bodyPr/>
        <a:lstStyle/>
        <a:p>
          <a:endParaRPr lang="zh-TW" altLang="en-US" sz="2000"/>
        </a:p>
      </dgm:t>
    </dgm:pt>
    <dgm:pt modelId="{A8C85451-D8DB-41C3-A399-7C5F8CC7CDD2}">
      <dgm:prSet phldrT="[文字]" custT="1"/>
      <dgm:spPr/>
      <dgm:t>
        <a:bodyPr/>
        <a:lstStyle/>
        <a:p>
          <a:r>
            <a:rPr lang="en-US" altLang="zh-TW" sz="2800" dirty="0" err="1" smtClean="0"/>
            <a:t>Callee</a:t>
          </a:r>
          <a:r>
            <a:rPr lang="en-US" altLang="zh-TW" sz="2800" dirty="0" smtClean="0"/>
            <a:t> returns</a:t>
          </a:r>
          <a:endParaRPr lang="zh-TW" altLang="en-US" sz="2800" dirty="0"/>
        </a:p>
      </dgm:t>
    </dgm:pt>
    <dgm:pt modelId="{DB0BECD6-0673-4943-AF54-5EE27E4F29EF}" type="parTrans" cxnId="{C41A51C9-2F7C-4EDA-9F24-DC281D512046}">
      <dgm:prSet/>
      <dgm:spPr/>
      <dgm:t>
        <a:bodyPr/>
        <a:lstStyle/>
        <a:p>
          <a:endParaRPr lang="zh-TW" altLang="en-US" sz="2000"/>
        </a:p>
      </dgm:t>
    </dgm:pt>
    <dgm:pt modelId="{754A80CB-36F8-4BB9-9E8C-2D14901273F5}" type="sibTrans" cxnId="{C41A51C9-2F7C-4EDA-9F24-DC281D512046}">
      <dgm:prSet custT="1"/>
      <dgm:spPr/>
      <dgm:t>
        <a:bodyPr/>
        <a:lstStyle/>
        <a:p>
          <a:endParaRPr lang="zh-TW" altLang="en-US" sz="2000"/>
        </a:p>
      </dgm:t>
    </dgm:pt>
    <dgm:pt modelId="{18D4D43F-F9C0-4AA1-B432-3905C78E85C2}">
      <dgm:prSet phldrT="[文字]" custT="1"/>
      <dgm:spPr/>
      <dgm:t>
        <a:bodyPr/>
        <a:lstStyle/>
        <a:p>
          <a:r>
            <a:rPr lang="en-US" altLang="zh-TW" sz="2800" dirty="0" smtClean="0"/>
            <a:t>Caller restores </a:t>
          </a:r>
          <a:endParaRPr lang="zh-TW" altLang="en-US" sz="2800" dirty="0"/>
        </a:p>
      </dgm:t>
    </dgm:pt>
    <dgm:pt modelId="{BF903E30-A73B-42A4-86DB-6F0F96FEA798}" type="parTrans" cxnId="{2E31E66A-749A-45B7-BF87-D86F1C48DD36}">
      <dgm:prSet/>
      <dgm:spPr/>
      <dgm:t>
        <a:bodyPr/>
        <a:lstStyle/>
        <a:p>
          <a:endParaRPr lang="zh-TW" altLang="en-US" sz="2000"/>
        </a:p>
      </dgm:t>
    </dgm:pt>
    <dgm:pt modelId="{4AA5750E-4EA4-4754-BC28-2BC9BCCFEDAB}" type="sibTrans" cxnId="{2E31E66A-749A-45B7-BF87-D86F1C48DD36}">
      <dgm:prSet/>
      <dgm:spPr/>
      <dgm:t>
        <a:bodyPr/>
        <a:lstStyle/>
        <a:p>
          <a:endParaRPr lang="zh-TW" altLang="en-US" sz="2000"/>
        </a:p>
      </dgm:t>
    </dgm:pt>
    <dgm:pt modelId="{DC3C8389-144A-4983-B35E-BE28B72D1B90}" type="pres">
      <dgm:prSet presAssocID="{BB1C3A52-77E8-4684-9A33-F101473160F1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9EBFFEA8-98FC-4084-A1C5-4513036B5D77}" type="pres">
      <dgm:prSet presAssocID="{BB1C3A52-77E8-4684-9A33-F101473160F1}" presName="dummyMaxCanvas" presStyleCnt="0">
        <dgm:presLayoutVars/>
      </dgm:prSet>
      <dgm:spPr/>
    </dgm:pt>
    <dgm:pt modelId="{34B058B0-11E8-419F-8208-0BC05BEE9C91}" type="pres">
      <dgm:prSet presAssocID="{BB1C3A52-77E8-4684-9A33-F101473160F1}" presName="FiveNodes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4DD9CE2-AE09-470D-8745-B16EC1C770D2}" type="pres">
      <dgm:prSet presAssocID="{BB1C3A52-77E8-4684-9A33-F101473160F1}" presName="FiveNodes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825876A4-0C15-432D-BE19-912732A033B3}" type="pres">
      <dgm:prSet presAssocID="{BB1C3A52-77E8-4684-9A33-F101473160F1}" presName="FiveNodes_3" presStyleLbl="node1" presStyleIdx="2" presStyleCnt="5" custScaleX="114564" custLinFactNeighborX="7653" custLinFactNeighborY="-254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8063071E-136A-489A-8F51-41049FB7BF85}" type="pres">
      <dgm:prSet presAssocID="{BB1C3A52-77E8-4684-9A33-F101473160F1}" presName="FiveNodes_4" presStyleLbl="node1" presStyleIdx="3" presStyleCnt="5" custLinFactNeighborX="-14263" custLinFactNeighborY="-254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8DD30E18-7A2F-4922-941D-AAACD0B212A3}" type="pres">
      <dgm:prSet presAssocID="{BB1C3A52-77E8-4684-9A33-F101473160F1}" presName="FiveNodes_5" presStyleLbl="node1" presStyleIdx="4" presStyleCnt="5" custLinFactNeighborX="-29870" custLinFactNeighborY="0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7316F19A-887B-4E72-A2A6-87871DF21747}" type="pres">
      <dgm:prSet presAssocID="{BB1C3A52-77E8-4684-9A33-F101473160F1}" presName="FiveConn_1-2" presStyleLbl="fgAccFollowNode1" presStyleIdx="0" presStyleCnt="4" custLinFactX="-200000" custLinFactNeighborX="-259169" custLinFactNeighborY="15651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06DF3DE7-FB00-4B27-8720-D9590290B7C8}" type="pres">
      <dgm:prSet presAssocID="{BB1C3A52-77E8-4684-9A33-F101473160F1}" presName="FiveConn_2-3" presStyleLbl="fgAccFollowNode1" presStyleIdx="1" presStyleCnt="4" custLinFactX="-243160" custLinFactNeighborX="-300000" custLinFactNeighborY="11738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2C310554-F95F-4885-83E7-4FDB24D845F3}" type="pres">
      <dgm:prSet presAssocID="{BB1C3A52-77E8-4684-9A33-F101473160F1}" presName="FiveConn_3-4" presStyleLbl="fgAccFollowNode1" presStyleIdx="2" presStyleCnt="4" custLinFactX="-300000" custLinFactNeighborX="-327152" custLinFactNeighborY="15650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F06F337-56BB-4003-8482-8C478F542ECB}" type="pres">
      <dgm:prSet presAssocID="{BB1C3A52-77E8-4684-9A33-F101473160F1}" presName="FiveConn_4-5" presStyleLbl="fgAccFollowNode1" presStyleIdx="3" presStyleCnt="4" custLinFactX="-311144" custLinFactNeighborX="-400000" custLinFactNeighborY="1956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7CC45EF2-067F-442F-90FD-65A994607762}" type="pres">
      <dgm:prSet presAssocID="{BB1C3A52-77E8-4684-9A33-F101473160F1}" presName="FiveNodes_1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3E10E745-F2C3-4720-85FD-3D68D63BC6D8}" type="pres">
      <dgm:prSet presAssocID="{BB1C3A52-77E8-4684-9A33-F101473160F1}" presName="FiveNodes_2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F5BB4FA8-4E98-4833-BC44-19507A6274C6}" type="pres">
      <dgm:prSet presAssocID="{BB1C3A52-77E8-4684-9A33-F101473160F1}" presName="FiveNodes_3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81B202F-3E60-43AD-A12E-CC00E7D2CFEC}" type="pres">
      <dgm:prSet presAssocID="{BB1C3A52-77E8-4684-9A33-F101473160F1}" presName="FiveNodes_4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B35A8B10-AACD-4410-8546-8055EF855C3D}" type="pres">
      <dgm:prSet presAssocID="{BB1C3A52-77E8-4684-9A33-F101473160F1}" presName="FiveNodes_5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6BD903A7-6E0C-4DA1-8191-9952042715F5}" srcId="{BB1C3A52-77E8-4684-9A33-F101473160F1}" destId="{9EE956C1-FE08-4B49-9A41-88B7820923A7}" srcOrd="1" destOrd="0" parTransId="{F514D35C-52D0-4128-8E2A-A9E1FAFB6900}" sibTransId="{060AE4D6-74A9-44DF-9B8D-16237BC8FB39}"/>
    <dgm:cxn modelId="{7241D6E3-0B72-4D6E-9C26-9ACA8A39E802}" type="presOf" srcId="{060AE4D6-74A9-44DF-9B8D-16237BC8FB39}" destId="{06DF3DE7-FB00-4B27-8720-D9590290B7C8}" srcOrd="0" destOrd="0" presId="urn:microsoft.com/office/officeart/2005/8/layout/vProcess5"/>
    <dgm:cxn modelId="{F16745C7-974B-49B4-BF74-88D0EA9E2747}" srcId="{BB1C3A52-77E8-4684-9A33-F101473160F1}" destId="{BB0481F3-B531-4F09-ADE5-8C3E7CC4909F}" srcOrd="0" destOrd="0" parTransId="{22CC1B17-48B5-4DDB-809B-8063AAACBE0E}" sibTransId="{24DCDED2-3EC6-4C44-A230-5C9BEFBD0F4F}"/>
    <dgm:cxn modelId="{78F0DF43-81A0-49AF-9907-F84EFE3A1FAB}" type="presOf" srcId="{A8C85451-D8DB-41C3-A399-7C5F8CC7CDD2}" destId="{A81B202F-3E60-43AD-A12E-CC00E7D2CFEC}" srcOrd="1" destOrd="0" presId="urn:microsoft.com/office/officeart/2005/8/layout/vProcess5"/>
    <dgm:cxn modelId="{C0EB631C-5EF0-4448-B68F-F4E351279192}" type="presOf" srcId="{17F1F1EC-9B41-442C-9B53-6AF15FD2F937}" destId="{825876A4-0C15-432D-BE19-912732A033B3}" srcOrd="0" destOrd="0" presId="urn:microsoft.com/office/officeart/2005/8/layout/vProcess5"/>
    <dgm:cxn modelId="{9F179068-C980-4A40-B6A6-B444B6E76A7D}" type="presOf" srcId="{18D4D43F-F9C0-4AA1-B432-3905C78E85C2}" destId="{8DD30E18-7A2F-4922-941D-AAACD0B212A3}" srcOrd="0" destOrd="0" presId="urn:microsoft.com/office/officeart/2005/8/layout/vProcess5"/>
    <dgm:cxn modelId="{825FCF37-DC5E-42A0-ABB9-ED187227095D}" type="presOf" srcId="{BB0481F3-B531-4F09-ADE5-8C3E7CC4909F}" destId="{7CC45EF2-067F-442F-90FD-65A994607762}" srcOrd="1" destOrd="0" presId="urn:microsoft.com/office/officeart/2005/8/layout/vProcess5"/>
    <dgm:cxn modelId="{ACAFB81D-1DD7-44A9-B7A8-86FC1D7F6056}" type="presOf" srcId="{BB1C3A52-77E8-4684-9A33-F101473160F1}" destId="{DC3C8389-144A-4983-B35E-BE28B72D1B90}" srcOrd="0" destOrd="0" presId="urn:microsoft.com/office/officeart/2005/8/layout/vProcess5"/>
    <dgm:cxn modelId="{7337F4AE-CAB0-4E2A-A8CA-E82F5745E071}" type="presOf" srcId="{A8C85451-D8DB-41C3-A399-7C5F8CC7CDD2}" destId="{8063071E-136A-489A-8F51-41049FB7BF85}" srcOrd="0" destOrd="0" presId="urn:microsoft.com/office/officeart/2005/8/layout/vProcess5"/>
    <dgm:cxn modelId="{D327AC03-3F5F-4175-8E7F-C60C1761A8A1}" type="presOf" srcId="{24DCDED2-3EC6-4C44-A230-5C9BEFBD0F4F}" destId="{7316F19A-887B-4E72-A2A6-87871DF21747}" srcOrd="0" destOrd="0" presId="urn:microsoft.com/office/officeart/2005/8/layout/vProcess5"/>
    <dgm:cxn modelId="{AE577C18-4193-4047-87D8-2495436DDDFA}" type="presOf" srcId="{BB0481F3-B531-4F09-ADE5-8C3E7CC4909F}" destId="{34B058B0-11E8-419F-8208-0BC05BEE9C91}" srcOrd="0" destOrd="0" presId="urn:microsoft.com/office/officeart/2005/8/layout/vProcess5"/>
    <dgm:cxn modelId="{8E5765EE-4655-4E66-BFA5-804A1ABE46C6}" srcId="{BB1C3A52-77E8-4684-9A33-F101473160F1}" destId="{17F1F1EC-9B41-442C-9B53-6AF15FD2F937}" srcOrd="2" destOrd="0" parTransId="{80B730A6-FA9D-43B8-A3C2-5C3AAB9D0101}" sibTransId="{255EC9DE-4304-4CCB-9EF1-0CD69AFB9868}"/>
    <dgm:cxn modelId="{05A44ED0-BCC6-4D94-BF0D-CB93E982F239}" type="presOf" srcId="{9EE956C1-FE08-4B49-9A41-88B7820923A7}" destId="{3E10E745-F2C3-4720-85FD-3D68D63BC6D8}" srcOrd="1" destOrd="0" presId="urn:microsoft.com/office/officeart/2005/8/layout/vProcess5"/>
    <dgm:cxn modelId="{1BAA81FD-FD47-4571-801E-08E2BB207B4E}" type="presOf" srcId="{17F1F1EC-9B41-442C-9B53-6AF15FD2F937}" destId="{F5BB4FA8-4E98-4833-BC44-19507A6274C6}" srcOrd="1" destOrd="0" presId="urn:microsoft.com/office/officeart/2005/8/layout/vProcess5"/>
    <dgm:cxn modelId="{2E31E66A-749A-45B7-BF87-D86F1C48DD36}" srcId="{BB1C3A52-77E8-4684-9A33-F101473160F1}" destId="{18D4D43F-F9C0-4AA1-B432-3905C78E85C2}" srcOrd="4" destOrd="0" parTransId="{BF903E30-A73B-42A4-86DB-6F0F96FEA798}" sibTransId="{4AA5750E-4EA4-4754-BC28-2BC9BCCFEDAB}"/>
    <dgm:cxn modelId="{48BE528F-0452-44B4-8EDA-651F0D697FA0}" type="presOf" srcId="{754A80CB-36F8-4BB9-9E8C-2D14901273F5}" destId="{AF06F337-56BB-4003-8482-8C478F542ECB}" srcOrd="0" destOrd="0" presId="urn:microsoft.com/office/officeart/2005/8/layout/vProcess5"/>
    <dgm:cxn modelId="{BACC38D9-5F5E-4D38-956B-56158EFB048E}" type="presOf" srcId="{255EC9DE-4304-4CCB-9EF1-0CD69AFB9868}" destId="{2C310554-F95F-4885-83E7-4FDB24D845F3}" srcOrd="0" destOrd="0" presId="urn:microsoft.com/office/officeart/2005/8/layout/vProcess5"/>
    <dgm:cxn modelId="{C41A51C9-2F7C-4EDA-9F24-DC281D512046}" srcId="{BB1C3A52-77E8-4684-9A33-F101473160F1}" destId="{A8C85451-D8DB-41C3-A399-7C5F8CC7CDD2}" srcOrd="3" destOrd="0" parTransId="{DB0BECD6-0673-4943-AF54-5EE27E4F29EF}" sibTransId="{754A80CB-36F8-4BB9-9E8C-2D14901273F5}"/>
    <dgm:cxn modelId="{680799A1-BA14-452F-8732-1E3E25A99E21}" type="presOf" srcId="{18D4D43F-F9C0-4AA1-B432-3905C78E85C2}" destId="{B35A8B10-AACD-4410-8546-8055EF855C3D}" srcOrd="1" destOrd="0" presId="urn:microsoft.com/office/officeart/2005/8/layout/vProcess5"/>
    <dgm:cxn modelId="{9B421878-924E-422C-AE38-0FB2CC94D552}" type="presOf" srcId="{9EE956C1-FE08-4B49-9A41-88B7820923A7}" destId="{A4DD9CE2-AE09-470D-8745-B16EC1C770D2}" srcOrd="0" destOrd="0" presId="urn:microsoft.com/office/officeart/2005/8/layout/vProcess5"/>
    <dgm:cxn modelId="{842E3E58-E1EC-48B5-8A6B-B6366D77475C}" type="presParOf" srcId="{DC3C8389-144A-4983-B35E-BE28B72D1B90}" destId="{9EBFFEA8-98FC-4084-A1C5-4513036B5D77}" srcOrd="0" destOrd="0" presId="urn:microsoft.com/office/officeart/2005/8/layout/vProcess5"/>
    <dgm:cxn modelId="{5009226F-4AF3-44DD-B265-633832E8D61F}" type="presParOf" srcId="{DC3C8389-144A-4983-B35E-BE28B72D1B90}" destId="{34B058B0-11E8-419F-8208-0BC05BEE9C91}" srcOrd="1" destOrd="0" presId="urn:microsoft.com/office/officeart/2005/8/layout/vProcess5"/>
    <dgm:cxn modelId="{7EA93CF9-B81A-4D83-9A40-64DAF5ACB137}" type="presParOf" srcId="{DC3C8389-144A-4983-B35E-BE28B72D1B90}" destId="{A4DD9CE2-AE09-470D-8745-B16EC1C770D2}" srcOrd="2" destOrd="0" presId="urn:microsoft.com/office/officeart/2005/8/layout/vProcess5"/>
    <dgm:cxn modelId="{D79A77D8-7433-4E3F-B56C-F7818623BFAC}" type="presParOf" srcId="{DC3C8389-144A-4983-B35E-BE28B72D1B90}" destId="{825876A4-0C15-432D-BE19-912732A033B3}" srcOrd="3" destOrd="0" presId="urn:microsoft.com/office/officeart/2005/8/layout/vProcess5"/>
    <dgm:cxn modelId="{C6E53637-8AC0-4907-8D4A-B54130769026}" type="presParOf" srcId="{DC3C8389-144A-4983-B35E-BE28B72D1B90}" destId="{8063071E-136A-489A-8F51-41049FB7BF85}" srcOrd="4" destOrd="0" presId="urn:microsoft.com/office/officeart/2005/8/layout/vProcess5"/>
    <dgm:cxn modelId="{D92177A6-BADD-4B6D-A923-95F0F8F1E019}" type="presParOf" srcId="{DC3C8389-144A-4983-B35E-BE28B72D1B90}" destId="{8DD30E18-7A2F-4922-941D-AAACD0B212A3}" srcOrd="5" destOrd="0" presId="urn:microsoft.com/office/officeart/2005/8/layout/vProcess5"/>
    <dgm:cxn modelId="{7B1377E6-EAE7-423E-BC0B-BAB5EA711A42}" type="presParOf" srcId="{DC3C8389-144A-4983-B35E-BE28B72D1B90}" destId="{7316F19A-887B-4E72-A2A6-87871DF21747}" srcOrd="6" destOrd="0" presId="urn:microsoft.com/office/officeart/2005/8/layout/vProcess5"/>
    <dgm:cxn modelId="{17E55C6F-4FDC-462B-8E89-260F9535539D}" type="presParOf" srcId="{DC3C8389-144A-4983-B35E-BE28B72D1B90}" destId="{06DF3DE7-FB00-4B27-8720-D9590290B7C8}" srcOrd="7" destOrd="0" presId="urn:microsoft.com/office/officeart/2005/8/layout/vProcess5"/>
    <dgm:cxn modelId="{1577B63D-4E8C-4EA8-AE78-57BAE6E79320}" type="presParOf" srcId="{DC3C8389-144A-4983-B35E-BE28B72D1B90}" destId="{2C310554-F95F-4885-83E7-4FDB24D845F3}" srcOrd="8" destOrd="0" presId="urn:microsoft.com/office/officeart/2005/8/layout/vProcess5"/>
    <dgm:cxn modelId="{ECF4067F-1665-493A-90FD-948534C608CD}" type="presParOf" srcId="{DC3C8389-144A-4983-B35E-BE28B72D1B90}" destId="{AF06F337-56BB-4003-8482-8C478F542ECB}" srcOrd="9" destOrd="0" presId="urn:microsoft.com/office/officeart/2005/8/layout/vProcess5"/>
    <dgm:cxn modelId="{9E3D3D0D-ABF0-4298-BA25-0C1D45CB7012}" type="presParOf" srcId="{DC3C8389-144A-4983-B35E-BE28B72D1B90}" destId="{7CC45EF2-067F-442F-90FD-65A994607762}" srcOrd="10" destOrd="0" presId="urn:microsoft.com/office/officeart/2005/8/layout/vProcess5"/>
    <dgm:cxn modelId="{BE425994-3577-4C54-B575-B542C0CBB52F}" type="presParOf" srcId="{DC3C8389-144A-4983-B35E-BE28B72D1B90}" destId="{3E10E745-F2C3-4720-85FD-3D68D63BC6D8}" srcOrd="11" destOrd="0" presId="urn:microsoft.com/office/officeart/2005/8/layout/vProcess5"/>
    <dgm:cxn modelId="{AD2E7521-E42D-4A34-AEC1-B5181EE4070E}" type="presParOf" srcId="{DC3C8389-144A-4983-B35E-BE28B72D1B90}" destId="{F5BB4FA8-4E98-4833-BC44-19507A6274C6}" srcOrd="12" destOrd="0" presId="urn:microsoft.com/office/officeart/2005/8/layout/vProcess5"/>
    <dgm:cxn modelId="{128BB313-6318-47C6-9819-499D042056E5}" type="presParOf" srcId="{DC3C8389-144A-4983-B35E-BE28B72D1B90}" destId="{A81B202F-3E60-43AD-A12E-CC00E7D2CFEC}" srcOrd="13" destOrd="0" presId="urn:microsoft.com/office/officeart/2005/8/layout/vProcess5"/>
    <dgm:cxn modelId="{177A0DFB-6378-4CCD-A30C-456E83A99B8D}" type="presParOf" srcId="{DC3C8389-144A-4983-B35E-BE28B72D1B90}" destId="{B35A8B10-AACD-4410-8546-8055EF855C3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BB33C-050F-194E-9F71-A5A73BBD8CBC}" type="datetimeFigureOut">
              <a:rPr kumimoji="1" lang="zh-TW" altLang="en-US" smtClean="0"/>
              <a:t>2016/3/29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34A9D5-F0D8-354E-9F0A-63F83BF169B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14998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4A9D5-F0D8-354E-9F0A-63F83BF169BC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19430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For the game, draw this on the blackboard.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4A9D5-F0D8-354E-9F0A-63F83BF169BC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06628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Continue the game, </a:t>
            </a:r>
          </a:p>
          <a:p>
            <a:pPr marL="228600" indent="-228600">
              <a:buAutoNum type="arabicPeriod"/>
            </a:pPr>
            <a:r>
              <a:rPr lang="en-US" altLang="zh-TW" dirty="0" smtClean="0"/>
              <a:t>Ask</a:t>
            </a:r>
            <a:r>
              <a:rPr lang="en-US" altLang="zh-TW" baseline="0" dirty="0" smtClean="0"/>
              <a:t> each student to have a number in hand.</a:t>
            </a:r>
          </a:p>
          <a:p>
            <a:pPr marL="22860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dirty="0" smtClean="0"/>
              <a:t>Put a</a:t>
            </a:r>
            <a:r>
              <a:rPr lang="en-US" altLang="zh-TW" baseline="0" dirty="0" smtClean="0"/>
              <a:t> number</a:t>
            </a:r>
            <a:r>
              <a:rPr lang="en-US" altLang="zh-TW" dirty="0" smtClean="0"/>
              <a:t> in </a:t>
            </a:r>
            <a:r>
              <a:rPr lang="en-US" altLang="zh-TW" dirty="0" err="1" smtClean="0"/>
              <a:t>esp</a:t>
            </a:r>
            <a:r>
              <a:rPr lang="en-US" altLang="zh-TW" dirty="0" smtClean="0"/>
              <a:t>, for example, 20</a:t>
            </a:r>
          </a:p>
          <a:p>
            <a:pPr marL="22860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dirty="0" smtClean="0"/>
              <a:t>Ask</a:t>
            </a:r>
            <a:r>
              <a:rPr lang="en-US" altLang="zh-TW" baseline="0" dirty="0" smtClean="0"/>
              <a:t> what is the number of in [esp+12], put that to </a:t>
            </a:r>
            <a:r>
              <a:rPr lang="en-US" altLang="zh-TW" baseline="0" dirty="0" err="1" smtClean="0"/>
              <a:t>eax</a:t>
            </a:r>
            <a:endParaRPr lang="en-US" altLang="zh-TW" baseline="0" dirty="0" smtClean="0"/>
          </a:p>
          <a:p>
            <a:pPr marL="22860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baseline="0" dirty="0" smtClean="0"/>
              <a:t>Ask the student in [esp+8] to have the same number</a:t>
            </a:r>
            <a:endParaRPr lang="en-US" altLang="zh-TW" dirty="0" smtClean="0"/>
          </a:p>
          <a:p>
            <a:pPr marL="228600" indent="-228600">
              <a:buAutoNum type="arabicPeriod"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4A9D5-F0D8-354E-9F0A-63F83BF169BC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25488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Continue the game, </a:t>
            </a:r>
          </a:p>
          <a:p>
            <a:pPr marL="228600" indent="-228600">
              <a:buAutoNum type="arabicPeriod"/>
            </a:pPr>
            <a:r>
              <a:rPr lang="en-US" altLang="zh-TW" dirty="0" smtClean="0"/>
              <a:t>Ask</a:t>
            </a:r>
            <a:r>
              <a:rPr lang="en-US" altLang="zh-TW" baseline="0" dirty="0" smtClean="0"/>
              <a:t> each student to have a number in hand.</a:t>
            </a:r>
          </a:p>
          <a:p>
            <a:pPr marL="22860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dirty="0" smtClean="0"/>
              <a:t>Put a</a:t>
            </a:r>
            <a:r>
              <a:rPr lang="en-US" altLang="zh-TW" baseline="0" dirty="0" smtClean="0"/>
              <a:t> number</a:t>
            </a:r>
            <a:r>
              <a:rPr lang="en-US" altLang="zh-TW" dirty="0" smtClean="0"/>
              <a:t> in </a:t>
            </a:r>
            <a:r>
              <a:rPr lang="en-US" altLang="zh-TW" dirty="0" err="1" smtClean="0"/>
              <a:t>esp</a:t>
            </a:r>
            <a:r>
              <a:rPr lang="en-US" altLang="zh-TW" dirty="0" smtClean="0"/>
              <a:t>, for example, 20</a:t>
            </a:r>
          </a:p>
          <a:p>
            <a:pPr marL="22860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dirty="0" smtClean="0"/>
              <a:t>Ask</a:t>
            </a:r>
            <a:r>
              <a:rPr lang="en-US" altLang="zh-TW" baseline="0" dirty="0" smtClean="0"/>
              <a:t> what is the number of in [esp+8], put that to </a:t>
            </a:r>
            <a:r>
              <a:rPr lang="en-US" altLang="zh-TW" baseline="0" dirty="0" err="1" smtClean="0"/>
              <a:t>eax</a:t>
            </a:r>
            <a:endParaRPr lang="en-US" altLang="zh-TW" baseline="0" dirty="0" smtClean="0"/>
          </a:p>
          <a:p>
            <a:pPr marL="22860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dirty="0" smtClean="0"/>
              <a:t>Ask</a:t>
            </a:r>
            <a:r>
              <a:rPr lang="en-US" altLang="zh-TW" baseline="0" dirty="0" smtClean="0"/>
              <a:t> what is the number of in [esp+12], put that to </a:t>
            </a:r>
            <a:r>
              <a:rPr lang="en-US" altLang="zh-TW" baseline="0" dirty="0" err="1" smtClean="0"/>
              <a:t>edx</a:t>
            </a:r>
            <a:endParaRPr lang="en-US" altLang="zh-TW" baseline="0" dirty="0" smtClean="0"/>
          </a:p>
          <a:p>
            <a:pPr marL="22860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baseline="0" dirty="0" smtClean="0"/>
              <a:t>Perform add </a:t>
            </a:r>
            <a:r>
              <a:rPr lang="en-US" altLang="zh-TW" baseline="0" dirty="0" err="1" smtClean="0"/>
              <a:t>eax</a:t>
            </a:r>
            <a:r>
              <a:rPr lang="en-US" altLang="zh-TW" baseline="0" dirty="0" smtClean="0"/>
              <a:t>, </a:t>
            </a:r>
            <a:r>
              <a:rPr lang="en-US" altLang="zh-TW" baseline="0" dirty="0" err="1" smtClean="0"/>
              <a:t>edx</a:t>
            </a:r>
            <a:endParaRPr lang="en-US" altLang="zh-TW" baseline="0" dirty="0" smtClean="0"/>
          </a:p>
          <a:p>
            <a:pPr marL="22860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baseline="0" dirty="0" smtClean="0"/>
              <a:t>Ask the student in [esp+4] to have the number in </a:t>
            </a:r>
            <a:r>
              <a:rPr lang="en-US" altLang="zh-TW" baseline="0" dirty="0" err="1" smtClean="0"/>
              <a:t>eax</a:t>
            </a:r>
            <a:endParaRPr lang="en-US" altLang="zh-TW" dirty="0" smtClean="0"/>
          </a:p>
          <a:p>
            <a:pPr marL="228600" indent="-228600">
              <a:buAutoNum type="arabicPeriod"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4A9D5-F0D8-354E-9F0A-63F83BF169BC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80798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Continue the game, </a:t>
            </a:r>
          </a:p>
          <a:p>
            <a:pPr marL="228600" indent="-228600">
              <a:buAutoNum type="arabicPeriod"/>
            </a:pPr>
            <a:r>
              <a:rPr lang="en-US" altLang="zh-TW" dirty="0" smtClean="0"/>
              <a:t>Ask</a:t>
            </a:r>
            <a:r>
              <a:rPr lang="en-US" altLang="zh-TW" baseline="0" dirty="0" smtClean="0"/>
              <a:t> each student to have a number in hand.</a:t>
            </a:r>
          </a:p>
          <a:p>
            <a:pPr marL="22860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dirty="0" smtClean="0"/>
              <a:t>Put a</a:t>
            </a:r>
            <a:r>
              <a:rPr lang="en-US" altLang="zh-TW" baseline="0" dirty="0" smtClean="0"/>
              <a:t> number</a:t>
            </a:r>
            <a:r>
              <a:rPr lang="en-US" altLang="zh-TW" dirty="0" smtClean="0"/>
              <a:t> in </a:t>
            </a:r>
            <a:r>
              <a:rPr lang="en-US" altLang="zh-TW" dirty="0" err="1" smtClean="0"/>
              <a:t>esp</a:t>
            </a:r>
            <a:r>
              <a:rPr lang="en-US" altLang="zh-TW" dirty="0" smtClean="0"/>
              <a:t>, for example, 20</a:t>
            </a:r>
          </a:p>
          <a:p>
            <a:pPr marL="22860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dirty="0" smtClean="0"/>
              <a:t>Ask</a:t>
            </a:r>
            <a:r>
              <a:rPr lang="en-US" altLang="zh-TW" baseline="0" dirty="0" smtClean="0"/>
              <a:t> what is the number of in [esp+8], put that to </a:t>
            </a:r>
            <a:r>
              <a:rPr lang="en-US" altLang="zh-TW" baseline="0" dirty="0" err="1" smtClean="0"/>
              <a:t>eax</a:t>
            </a:r>
            <a:endParaRPr lang="en-US" altLang="zh-TW" baseline="0" dirty="0" smtClean="0"/>
          </a:p>
          <a:p>
            <a:pPr marL="22860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dirty="0" smtClean="0"/>
              <a:t>Ask</a:t>
            </a:r>
            <a:r>
              <a:rPr lang="en-US" altLang="zh-TW" baseline="0" dirty="0" smtClean="0"/>
              <a:t> what is the number of in [esp+12], put that to </a:t>
            </a:r>
            <a:r>
              <a:rPr lang="en-US" altLang="zh-TW" baseline="0" dirty="0" err="1" smtClean="0"/>
              <a:t>edx</a:t>
            </a:r>
            <a:endParaRPr lang="en-US" altLang="zh-TW" baseline="0" dirty="0" smtClean="0"/>
          </a:p>
          <a:p>
            <a:pPr marL="22860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baseline="0" dirty="0" smtClean="0"/>
              <a:t>Perform add </a:t>
            </a:r>
            <a:r>
              <a:rPr lang="en-US" altLang="zh-TW" baseline="0" dirty="0" err="1" smtClean="0"/>
              <a:t>eax</a:t>
            </a:r>
            <a:r>
              <a:rPr lang="en-US" altLang="zh-TW" baseline="0" dirty="0" smtClean="0"/>
              <a:t>, </a:t>
            </a:r>
            <a:r>
              <a:rPr lang="en-US" altLang="zh-TW" baseline="0" dirty="0" err="1" smtClean="0"/>
              <a:t>edx</a:t>
            </a:r>
            <a:endParaRPr lang="en-US" altLang="zh-TW" baseline="0" dirty="0" smtClean="0"/>
          </a:p>
          <a:p>
            <a:pPr marL="22860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baseline="0" dirty="0" smtClean="0"/>
              <a:t>Ask the student in [esp+4] to have the number in </a:t>
            </a:r>
            <a:r>
              <a:rPr lang="en-US" altLang="zh-TW" baseline="0" dirty="0" err="1" smtClean="0"/>
              <a:t>eax</a:t>
            </a:r>
            <a:endParaRPr lang="en-US" altLang="zh-TW" dirty="0" smtClean="0"/>
          </a:p>
          <a:p>
            <a:pPr marL="228600" indent="-228600">
              <a:buAutoNum type="arabicPeriod"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4A9D5-F0D8-354E-9F0A-63F83BF169BC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47678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Play the game that</a:t>
            </a:r>
            <a:r>
              <a:rPr lang="en-US" altLang="zh-TW" baseline="0" dirty="0" smtClean="0"/>
              <a:t> give 5 students the following instructions</a:t>
            </a:r>
          </a:p>
          <a:p>
            <a:r>
              <a:rPr lang="zh-TW" altLang="en-US" baseline="0" dirty="0" smtClean="0"/>
              <a:t>模擬一下不同的執行</a:t>
            </a:r>
            <a:endParaRPr lang="en-US" altLang="zh-TW" baseline="0" dirty="0" smtClean="0"/>
          </a:p>
          <a:p>
            <a:endParaRPr lang="en-US" altLang="zh-TW" baseline="0" dirty="0" smtClean="0"/>
          </a:p>
          <a:p>
            <a:r>
              <a:rPr lang="en-US" altLang="zh-TW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1.call	___main</a:t>
            </a:r>
          </a:p>
          <a:p>
            <a:r>
              <a:rPr lang="en-US" altLang="zh-TW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2.	</a:t>
            </a:r>
            <a:r>
              <a:rPr lang="en-US" altLang="zh-TW" sz="1200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altLang="zh-TW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DWORD PTR [esp+12], 3</a:t>
            </a:r>
          </a:p>
          <a:p>
            <a:r>
              <a:rPr lang="en-US" altLang="zh-TW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3.	</a:t>
            </a:r>
            <a:r>
              <a:rPr lang="en-US" altLang="zh-TW" sz="1200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jle</a:t>
            </a:r>
            <a:r>
              <a:rPr lang="en-US" altLang="zh-TW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1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L3</a:t>
            </a:r>
          </a:p>
          <a:p>
            <a:r>
              <a:rPr lang="en-US" altLang="zh-TW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4.	add	DWORD PTR [esp+8], 1</a:t>
            </a:r>
          </a:p>
          <a:p>
            <a:r>
              <a:rPr lang="en-US" altLang="zh-TW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L3:</a:t>
            </a:r>
          </a:p>
          <a:p>
            <a:r>
              <a:rPr lang="en-US" altLang="zh-TW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5.	leave</a:t>
            </a:r>
            <a:endParaRPr lang="zh-TW" altLang="en-US" sz="1200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4A9D5-F0D8-354E-9F0A-63F83BF169BC}" type="slidenum">
              <a:rPr kumimoji="1" lang="zh-TW" altLang="en-US" smtClean="0"/>
              <a:t>21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379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Continue the game, </a:t>
            </a:r>
          </a:p>
          <a:p>
            <a:pPr marL="228600" indent="-228600">
              <a:buAutoNum type="arabicPeriod"/>
            </a:pPr>
            <a:r>
              <a:rPr lang="en-US" altLang="zh-TW" dirty="0" smtClean="0"/>
              <a:t>Ask</a:t>
            </a:r>
            <a:r>
              <a:rPr lang="en-US" altLang="zh-TW" baseline="0" dirty="0" smtClean="0"/>
              <a:t> each student to have a number in hand.</a:t>
            </a:r>
          </a:p>
          <a:p>
            <a:pPr marL="22860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dirty="0" smtClean="0"/>
              <a:t>Put a</a:t>
            </a:r>
            <a:r>
              <a:rPr lang="en-US" altLang="zh-TW" baseline="0" dirty="0" smtClean="0"/>
              <a:t> number</a:t>
            </a:r>
            <a:r>
              <a:rPr lang="en-US" altLang="zh-TW" dirty="0" smtClean="0"/>
              <a:t> in </a:t>
            </a:r>
            <a:r>
              <a:rPr lang="en-US" altLang="zh-TW" dirty="0" err="1" smtClean="0"/>
              <a:t>esp</a:t>
            </a:r>
            <a:r>
              <a:rPr lang="en-US" altLang="zh-TW" dirty="0" smtClean="0"/>
              <a:t>, for example, 20</a:t>
            </a:r>
          </a:p>
          <a:p>
            <a:pPr marL="22860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dirty="0" smtClean="0"/>
              <a:t>Ask</a:t>
            </a:r>
            <a:r>
              <a:rPr lang="en-US" altLang="zh-TW" baseline="0" dirty="0" smtClean="0"/>
              <a:t> what is the number of in [esp+8], put that to </a:t>
            </a:r>
            <a:r>
              <a:rPr lang="en-US" altLang="zh-TW" baseline="0" dirty="0" err="1" smtClean="0"/>
              <a:t>eax</a:t>
            </a:r>
            <a:endParaRPr lang="en-US" altLang="zh-TW" baseline="0" dirty="0" smtClean="0"/>
          </a:p>
          <a:p>
            <a:pPr marL="22860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dirty="0" smtClean="0"/>
              <a:t>Ask</a:t>
            </a:r>
            <a:r>
              <a:rPr lang="en-US" altLang="zh-TW" baseline="0" dirty="0" smtClean="0"/>
              <a:t> what is the number of in [esp+12], put that to </a:t>
            </a:r>
            <a:r>
              <a:rPr lang="en-US" altLang="zh-TW" baseline="0" dirty="0" err="1" smtClean="0"/>
              <a:t>edx</a:t>
            </a:r>
            <a:endParaRPr lang="en-US" altLang="zh-TW" baseline="0" dirty="0" smtClean="0"/>
          </a:p>
          <a:p>
            <a:pPr marL="22860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baseline="0" dirty="0" smtClean="0"/>
              <a:t>Perform add </a:t>
            </a:r>
            <a:r>
              <a:rPr lang="en-US" altLang="zh-TW" baseline="0" dirty="0" err="1" smtClean="0"/>
              <a:t>eax</a:t>
            </a:r>
            <a:r>
              <a:rPr lang="en-US" altLang="zh-TW" baseline="0" dirty="0" smtClean="0"/>
              <a:t>, </a:t>
            </a:r>
            <a:r>
              <a:rPr lang="en-US" altLang="zh-TW" baseline="0" dirty="0" err="1" smtClean="0"/>
              <a:t>edx</a:t>
            </a:r>
            <a:endParaRPr lang="en-US" altLang="zh-TW" baseline="0" dirty="0" smtClean="0"/>
          </a:p>
          <a:p>
            <a:pPr marL="228600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TW" baseline="0" dirty="0" smtClean="0"/>
              <a:t>Ask the student in [esp+4] to have the number in </a:t>
            </a:r>
            <a:r>
              <a:rPr lang="en-US" altLang="zh-TW" baseline="0" dirty="0" err="1" smtClean="0"/>
              <a:t>eax</a:t>
            </a:r>
            <a:endParaRPr lang="en-US" altLang="zh-TW" dirty="0" smtClean="0"/>
          </a:p>
          <a:p>
            <a:pPr marL="228600" indent="-228600">
              <a:buAutoNum type="arabicPeriod"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4A9D5-F0D8-354E-9F0A-63F83BF169BC}" type="slidenum">
              <a:rPr kumimoji="1" lang="zh-TW" altLang="en-US" smtClean="0"/>
              <a:t>22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95013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4A9D5-F0D8-354E-9F0A-63F83BF169BC}" type="slidenum">
              <a:rPr kumimoji="1" lang="zh-TW" altLang="en-US" smtClean="0"/>
              <a:t>32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77248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 smtClean="0"/>
              <a:t>按一下以編輯母片子標題樣式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41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086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759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807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4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6631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40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387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32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652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649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F1D00-BD13-4404-86B0-79703945A0A7}" type="slidenum">
              <a:rPr lang="en-US" smtClean="0"/>
              <a:t>‹#›</a:t>
            </a:fld>
            <a:endParaRPr lang="en-US"/>
          </a:p>
        </p:txBody>
      </p:sp>
      <p:grpSp>
        <p:nvGrpSpPr>
          <p:cNvPr id="27" name="群組 26"/>
          <p:cNvGrpSpPr/>
          <p:nvPr userDrawn="1"/>
        </p:nvGrpSpPr>
        <p:grpSpPr>
          <a:xfrm>
            <a:off x="0" y="5420794"/>
            <a:ext cx="9143999" cy="1419688"/>
            <a:chOff x="0" y="5420794"/>
            <a:chExt cx="9143999" cy="1419688"/>
          </a:xfrm>
        </p:grpSpPr>
        <p:grpSp>
          <p:nvGrpSpPr>
            <p:cNvPr id="26" name="群組 25"/>
            <p:cNvGrpSpPr/>
            <p:nvPr userDrawn="1"/>
          </p:nvGrpSpPr>
          <p:grpSpPr>
            <a:xfrm>
              <a:off x="0" y="5420794"/>
              <a:ext cx="9143999" cy="1419688"/>
              <a:chOff x="351803" y="2311485"/>
              <a:chExt cx="8723376" cy="1419688"/>
            </a:xfrm>
          </p:grpSpPr>
          <p:sp>
            <p:nvSpPr>
              <p:cNvPr id="19" name="Rounded Rectangle 13"/>
              <p:cNvSpPr/>
              <p:nvPr/>
            </p:nvSpPr>
            <p:spPr>
              <a:xfrm>
                <a:off x="368738" y="2774487"/>
                <a:ext cx="8695944" cy="956686"/>
              </a:xfrm>
              <a:prstGeom prst="roundRect">
                <a:avLst>
                  <a:gd name="adj" fmla="val 3362"/>
                </a:avLst>
              </a:prstGeom>
              <a:gradFill>
                <a:gsLst>
                  <a:gs pos="0">
                    <a:schemeClr val="accent1">
                      <a:lumMod val="75000"/>
                    </a:schemeClr>
                  </a:gs>
                  <a:gs pos="9000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" name="Group 15"/>
              <p:cNvGrpSpPr>
                <a:grpSpLocks noChangeAspect="1"/>
              </p:cNvGrpSpPr>
              <p:nvPr/>
            </p:nvGrpSpPr>
            <p:grpSpPr bwMode="hidden">
              <a:xfrm flipV="1">
                <a:off x="351803" y="2311485"/>
                <a:ext cx="8723376" cy="1329874"/>
                <a:chOff x="-3905251" y="4294188"/>
                <a:chExt cx="13027839" cy="1892300"/>
              </a:xfrm>
            </p:grpSpPr>
            <p:sp>
              <p:nvSpPr>
                <p:cNvPr id="21" name="Freeform 14"/>
                <p:cNvSpPr>
                  <a:spLocks/>
                </p:cNvSpPr>
                <p:nvPr/>
              </p:nvSpPr>
              <p:spPr bwMode="hidden">
                <a:xfrm>
                  <a:off x="4810125" y="4500563"/>
                  <a:ext cx="4295775" cy="1016000"/>
                </a:xfrm>
                <a:custGeom>
                  <a:avLst/>
                  <a:gdLst/>
                  <a:ahLst/>
                  <a:cxnLst>
                    <a:cxn ang="0">
                      <a:pos x="2700" y="0"/>
                    </a:cxn>
                    <a:cxn ang="0">
                      <a:pos x="2700" y="0"/>
                    </a:cxn>
                    <a:cxn ang="0">
                      <a:pos x="2586" y="18"/>
                    </a:cxn>
                    <a:cxn ang="0">
                      <a:pos x="2470" y="38"/>
                    </a:cxn>
                    <a:cxn ang="0">
                      <a:pos x="2352" y="60"/>
                    </a:cxn>
                    <a:cxn ang="0">
                      <a:pos x="2230" y="82"/>
                    </a:cxn>
                    <a:cxn ang="0">
                      <a:pos x="2106" y="108"/>
                    </a:cxn>
                    <a:cxn ang="0">
                      <a:pos x="1978" y="134"/>
                    </a:cxn>
                    <a:cxn ang="0">
                      <a:pos x="1848" y="164"/>
                    </a:cxn>
                    <a:cxn ang="0">
                      <a:pos x="1714" y="194"/>
                    </a:cxn>
                    <a:cxn ang="0">
                      <a:pos x="1714" y="194"/>
                    </a:cxn>
                    <a:cxn ang="0">
                      <a:pos x="1472" y="252"/>
                    </a:cxn>
                    <a:cxn ang="0">
                      <a:pos x="1236" y="304"/>
                    </a:cxn>
                    <a:cxn ang="0">
                      <a:pos x="1010" y="352"/>
                    </a:cxn>
                    <a:cxn ang="0">
                      <a:pos x="792" y="398"/>
                    </a:cxn>
                    <a:cxn ang="0">
                      <a:pos x="584" y="438"/>
                    </a:cxn>
                    <a:cxn ang="0">
                      <a:pos x="382" y="474"/>
                    </a:cxn>
                    <a:cxn ang="0">
                      <a:pos x="188" y="508"/>
                    </a:cxn>
                    <a:cxn ang="0">
                      <a:pos x="0" y="538"/>
                    </a:cxn>
                    <a:cxn ang="0">
                      <a:pos x="0" y="538"/>
                    </a:cxn>
                    <a:cxn ang="0">
                      <a:pos x="130" y="556"/>
                    </a:cxn>
                    <a:cxn ang="0">
                      <a:pos x="254" y="572"/>
                    </a:cxn>
                    <a:cxn ang="0">
                      <a:pos x="374" y="586"/>
                    </a:cxn>
                    <a:cxn ang="0">
                      <a:pos x="492" y="598"/>
                    </a:cxn>
                    <a:cxn ang="0">
                      <a:pos x="606" y="610"/>
                    </a:cxn>
                    <a:cxn ang="0">
                      <a:pos x="716" y="618"/>
                    </a:cxn>
                    <a:cxn ang="0">
                      <a:pos x="822" y="626"/>
                    </a:cxn>
                    <a:cxn ang="0">
                      <a:pos x="926" y="632"/>
                    </a:cxn>
                    <a:cxn ang="0">
                      <a:pos x="1028" y="636"/>
                    </a:cxn>
                    <a:cxn ang="0">
                      <a:pos x="1126" y="638"/>
                    </a:cxn>
                    <a:cxn ang="0">
                      <a:pos x="1220" y="640"/>
                    </a:cxn>
                    <a:cxn ang="0">
                      <a:pos x="1312" y="640"/>
                    </a:cxn>
                    <a:cxn ang="0">
                      <a:pos x="1402" y="638"/>
                    </a:cxn>
                    <a:cxn ang="0">
                      <a:pos x="1490" y="636"/>
                    </a:cxn>
                    <a:cxn ang="0">
                      <a:pos x="1574" y="632"/>
                    </a:cxn>
                    <a:cxn ang="0">
                      <a:pos x="1656" y="626"/>
                    </a:cxn>
                    <a:cxn ang="0">
                      <a:pos x="1734" y="620"/>
                    </a:cxn>
                    <a:cxn ang="0">
                      <a:pos x="1812" y="612"/>
                    </a:cxn>
                    <a:cxn ang="0">
                      <a:pos x="1886" y="602"/>
                    </a:cxn>
                    <a:cxn ang="0">
                      <a:pos x="1960" y="592"/>
                    </a:cxn>
                    <a:cxn ang="0">
                      <a:pos x="2030" y="580"/>
                    </a:cxn>
                    <a:cxn ang="0">
                      <a:pos x="2100" y="568"/>
                    </a:cxn>
                    <a:cxn ang="0">
                      <a:pos x="2166" y="554"/>
                    </a:cxn>
                    <a:cxn ang="0">
                      <a:pos x="2232" y="540"/>
                    </a:cxn>
                    <a:cxn ang="0">
                      <a:pos x="2296" y="524"/>
                    </a:cxn>
                    <a:cxn ang="0">
                      <a:pos x="2358" y="508"/>
                    </a:cxn>
                    <a:cxn ang="0">
                      <a:pos x="2418" y="490"/>
                    </a:cxn>
                    <a:cxn ang="0">
                      <a:pos x="2478" y="472"/>
                    </a:cxn>
                    <a:cxn ang="0">
                      <a:pos x="2592" y="432"/>
                    </a:cxn>
                    <a:cxn ang="0">
                      <a:pos x="2702" y="390"/>
                    </a:cxn>
                    <a:cxn ang="0">
                      <a:pos x="2702" y="390"/>
                    </a:cxn>
                    <a:cxn ang="0">
                      <a:pos x="2706" y="388"/>
                    </a:cxn>
                    <a:cxn ang="0">
                      <a:pos x="2706" y="388"/>
                    </a:cxn>
                    <a:cxn ang="0">
                      <a:pos x="2706" y="0"/>
                    </a:cxn>
                    <a:cxn ang="0">
                      <a:pos x="2706" y="0"/>
                    </a:cxn>
                    <a:cxn ang="0">
                      <a:pos x="2700" y="0"/>
                    </a:cxn>
                    <a:cxn ang="0">
                      <a:pos x="2700" y="0"/>
                    </a:cxn>
                  </a:cxnLst>
                  <a:rect l="0" t="0" r="r" b="b"/>
                  <a:pathLst>
                    <a:path w="2706" h="640">
                      <a:moveTo>
                        <a:pt x="2700" y="0"/>
                      </a:moveTo>
                      <a:lnTo>
                        <a:pt x="2700" y="0"/>
                      </a:lnTo>
                      <a:lnTo>
                        <a:pt x="2586" y="18"/>
                      </a:lnTo>
                      <a:lnTo>
                        <a:pt x="2470" y="38"/>
                      </a:lnTo>
                      <a:lnTo>
                        <a:pt x="2352" y="60"/>
                      </a:lnTo>
                      <a:lnTo>
                        <a:pt x="2230" y="82"/>
                      </a:lnTo>
                      <a:lnTo>
                        <a:pt x="2106" y="108"/>
                      </a:lnTo>
                      <a:lnTo>
                        <a:pt x="1978" y="134"/>
                      </a:lnTo>
                      <a:lnTo>
                        <a:pt x="1848" y="164"/>
                      </a:lnTo>
                      <a:lnTo>
                        <a:pt x="1714" y="194"/>
                      </a:lnTo>
                      <a:lnTo>
                        <a:pt x="1714" y="194"/>
                      </a:lnTo>
                      <a:lnTo>
                        <a:pt x="1472" y="252"/>
                      </a:lnTo>
                      <a:lnTo>
                        <a:pt x="1236" y="304"/>
                      </a:lnTo>
                      <a:lnTo>
                        <a:pt x="1010" y="352"/>
                      </a:lnTo>
                      <a:lnTo>
                        <a:pt x="792" y="398"/>
                      </a:lnTo>
                      <a:lnTo>
                        <a:pt x="584" y="438"/>
                      </a:lnTo>
                      <a:lnTo>
                        <a:pt x="382" y="474"/>
                      </a:lnTo>
                      <a:lnTo>
                        <a:pt x="188" y="508"/>
                      </a:lnTo>
                      <a:lnTo>
                        <a:pt x="0" y="538"/>
                      </a:lnTo>
                      <a:lnTo>
                        <a:pt x="0" y="538"/>
                      </a:lnTo>
                      <a:lnTo>
                        <a:pt x="130" y="556"/>
                      </a:lnTo>
                      <a:lnTo>
                        <a:pt x="254" y="572"/>
                      </a:lnTo>
                      <a:lnTo>
                        <a:pt x="374" y="586"/>
                      </a:lnTo>
                      <a:lnTo>
                        <a:pt x="492" y="598"/>
                      </a:lnTo>
                      <a:lnTo>
                        <a:pt x="606" y="610"/>
                      </a:lnTo>
                      <a:lnTo>
                        <a:pt x="716" y="618"/>
                      </a:lnTo>
                      <a:lnTo>
                        <a:pt x="822" y="626"/>
                      </a:lnTo>
                      <a:lnTo>
                        <a:pt x="926" y="632"/>
                      </a:lnTo>
                      <a:lnTo>
                        <a:pt x="1028" y="636"/>
                      </a:lnTo>
                      <a:lnTo>
                        <a:pt x="1126" y="638"/>
                      </a:lnTo>
                      <a:lnTo>
                        <a:pt x="1220" y="640"/>
                      </a:lnTo>
                      <a:lnTo>
                        <a:pt x="1312" y="640"/>
                      </a:lnTo>
                      <a:lnTo>
                        <a:pt x="1402" y="638"/>
                      </a:lnTo>
                      <a:lnTo>
                        <a:pt x="1490" y="636"/>
                      </a:lnTo>
                      <a:lnTo>
                        <a:pt x="1574" y="632"/>
                      </a:lnTo>
                      <a:lnTo>
                        <a:pt x="1656" y="626"/>
                      </a:lnTo>
                      <a:lnTo>
                        <a:pt x="1734" y="620"/>
                      </a:lnTo>
                      <a:lnTo>
                        <a:pt x="1812" y="612"/>
                      </a:lnTo>
                      <a:lnTo>
                        <a:pt x="1886" y="602"/>
                      </a:lnTo>
                      <a:lnTo>
                        <a:pt x="1960" y="592"/>
                      </a:lnTo>
                      <a:lnTo>
                        <a:pt x="2030" y="580"/>
                      </a:lnTo>
                      <a:lnTo>
                        <a:pt x="2100" y="568"/>
                      </a:lnTo>
                      <a:lnTo>
                        <a:pt x="2166" y="554"/>
                      </a:lnTo>
                      <a:lnTo>
                        <a:pt x="2232" y="540"/>
                      </a:lnTo>
                      <a:lnTo>
                        <a:pt x="2296" y="524"/>
                      </a:lnTo>
                      <a:lnTo>
                        <a:pt x="2358" y="508"/>
                      </a:lnTo>
                      <a:lnTo>
                        <a:pt x="2418" y="490"/>
                      </a:lnTo>
                      <a:lnTo>
                        <a:pt x="2478" y="472"/>
                      </a:lnTo>
                      <a:lnTo>
                        <a:pt x="2592" y="432"/>
                      </a:lnTo>
                      <a:lnTo>
                        <a:pt x="2702" y="390"/>
                      </a:lnTo>
                      <a:lnTo>
                        <a:pt x="2702" y="390"/>
                      </a:lnTo>
                      <a:lnTo>
                        <a:pt x="2706" y="388"/>
                      </a:lnTo>
                      <a:lnTo>
                        <a:pt x="2706" y="388"/>
                      </a:lnTo>
                      <a:lnTo>
                        <a:pt x="2706" y="0"/>
                      </a:lnTo>
                      <a:lnTo>
                        <a:pt x="2706" y="0"/>
                      </a:lnTo>
                      <a:lnTo>
                        <a:pt x="2700" y="0"/>
                      </a:lnTo>
                      <a:lnTo>
                        <a:pt x="2700" y="0"/>
                      </a:lnTo>
                      <a:close/>
                    </a:path>
                  </a:pathLst>
                </a:custGeom>
                <a:solidFill>
                  <a:schemeClr val="bg2">
                    <a:alpha val="29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" name="Freeform 18"/>
                <p:cNvSpPr>
                  <a:spLocks/>
                </p:cNvSpPr>
                <p:nvPr/>
              </p:nvSpPr>
              <p:spPr bwMode="hidden">
                <a:xfrm>
                  <a:off x="-309563" y="4318000"/>
                  <a:ext cx="8280401" cy="1209675"/>
                </a:xfrm>
                <a:custGeom>
                  <a:avLst/>
                  <a:gdLst/>
                  <a:ahLst/>
                  <a:cxnLst>
                    <a:cxn ang="0">
                      <a:pos x="5216" y="714"/>
                    </a:cxn>
                    <a:cxn ang="0">
                      <a:pos x="4984" y="686"/>
                    </a:cxn>
                    <a:cxn ang="0">
                      <a:pos x="4478" y="610"/>
                    </a:cxn>
                    <a:cxn ang="0">
                      <a:pos x="3914" y="508"/>
                    </a:cxn>
                    <a:cxn ang="0">
                      <a:pos x="3286" y="374"/>
                    </a:cxn>
                    <a:cxn ang="0">
                      <a:pos x="2946" y="296"/>
                    </a:cxn>
                    <a:cxn ang="0">
                      <a:pos x="2682" y="236"/>
                    </a:cxn>
                    <a:cxn ang="0">
                      <a:pos x="2430" y="184"/>
                    </a:cxn>
                    <a:cxn ang="0">
                      <a:pos x="2190" y="140"/>
                    </a:cxn>
                    <a:cxn ang="0">
                      <a:pos x="1960" y="102"/>
                    </a:cxn>
                    <a:cxn ang="0">
                      <a:pos x="1740" y="72"/>
                    </a:cxn>
                    <a:cxn ang="0">
                      <a:pos x="1334" y="28"/>
                    </a:cxn>
                    <a:cxn ang="0">
                      <a:pos x="970" y="4"/>
                    </a:cxn>
                    <a:cxn ang="0">
                      <a:pos x="644" y="0"/>
                    </a:cxn>
                    <a:cxn ang="0">
                      <a:pos x="358" y="10"/>
                    </a:cxn>
                    <a:cxn ang="0">
                      <a:pos x="110" y="32"/>
                    </a:cxn>
                    <a:cxn ang="0">
                      <a:pos x="0" y="48"/>
                    </a:cxn>
                    <a:cxn ang="0">
                      <a:pos x="314" y="86"/>
                    </a:cxn>
                    <a:cxn ang="0">
                      <a:pos x="652" y="140"/>
                    </a:cxn>
                    <a:cxn ang="0">
                      <a:pos x="1014" y="210"/>
                    </a:cxn>
                    <a:cxn ang="0">
                      <a:pos x="1402" y="296"/>
                    </a:cxn>
                    <a:cxn ang="0">
                      <a:pos x="1756" y="378"/>
                    </a:cxn>
                    <a:cxn ang="0">
                      <a:pos x="2408" y="516"/>
                    </a:cxn>
                    <a:cxn ang="0">
                      <a:pos x="2708" y="572"/>
                    </a:cxn>
                    <a:cxn ang="0">
                      <a:pos x="2992" y="620"/>
                    </a:cxn>
                    <a:cxn ang="0">
                      <a:pos x="3260" y="662"/>
                    </a:cxn>
                    <a:cxn ang="0">
                      <a:pos x="3512" y="694"/>
                    </a:cxn>
                    <a:cxn ang="0">
                      <a:pos x="3750" y="722"/>
                    </a:cxn>
                    <a:cxn ang="0">
                      <a:pos x="3974" y="740"/>
                    </a:cxn>
                    <a:cxn ang="0">
                      <a:pos x="4184" y="754"/>
                    </a:cxn>
                    <a:cxn ang="0">
                      <a:pos x="4384" y="762"/>
                    </a:cxn>
                    <a:cxn ang="0">
                      <a:pos x="4570" y="762"/>
                    </a:cxn>
                    <a:cxn ang="0">
                      <a:pos x="4746" y="758"/>
                    </a:cxn>
                    <a:cxn ang="0">
                      <a:pos x="4912" y="748"/>
                    </a:cxn>
                    <a:cxn ang="0">
                      <a:pos x="5068" y="732"/>
                    </a:cxn>
                    <a:cxn ang="0">
                      <a:pos x="5216" y="714"/>
                    </a:cxn>
                  </a:cxnLst>
                  <a:rect l="0" t="0" r="r" b="b"/>
                  <a:pathLst>
                    <a:path w="5216" h="762">
                      <a:moveTo>
                        <a:pt x="5216" y="714"/>
                      </a:moveTo>
                      <a:lnTo>
                        <a:pt x="5216" y="714"/>
                      </a:lnTo>
                      <a:lnTo>
                        <a:pt x="5102" y="700"/>
                      </a:lnTo>
                      <a:lnTo>
                        <a:pt x="4984" y="686"/>
                      </a:lnTo>
                      <a:lnTo>
                        <a:pt x="4738" y="652"/>
                      </a:lnTo>
                      <a:lnTo>
                        <a:pt x="4478" y="610"/>
                      </a:lnTo>
                      <a:lnTo>
                        <a:pt x="4204" y="564"/>
                      </a:lnTo>
                      <a:lnTo>
                        <a:pt x="3914" y="508"/>
                      </a:lnTo>
                      <a:lnTo>
                        <a:pt x="3608" y="446"/>
                      </a:lnTo>
                      <a:lnTo>
                        <a:pt x="3286" y="374"/>
                      </a:lnTo>
                      <a:lnTo>
                        <a:pt x="2946" y="296"/>
                      </a:lnTo>
                      <a:lnTo>
                        <a:pt x="2946" y="296"/>
                      </a:lnTo>
                      <a:lnTo>
                        <a:pt x="2812" y="266"/>
                      </a:lnTo>
                      <a:lnTo>
                        <a:pt x="2682" y="236"/>
                      </a:lnTo>
                      <a:lnTo>
                        <a:pt x="2556" y="210"/>
                      </a:lnTo>
                      <a:lnTo>
                        <a:pt x="2430" y="184"/>
                      </a:lnTo>
                      <a:lnTo>
                        <a:pt x="2308" y="162"/>
                      </a:lnTo>
                      <a:lnTo>
                        <a:pt x="2190" y="140"/>
                      </a:lnTo>
                      <a:lnTo>
                        <a:pt x="2074" y="120"/>
                      </a:lnTo>
                      <a:lnTo>
                        <a:pt x="1960" y="102"/>
                      </a:lnTo>
                      <a:lnTo>
                        <a:pt x="1850" y="86"/>
                      </a:lnTo>
                      <a:lnTo>
                        <a:pt x="1740" y="72"/>
                      </a:lnTo>
                      <a:lnTo>
                        <a:pt x="1532" y="46"/>
                      </a:lnTo>
                      <a:lnTo>
                        <a:pt x="1334" y="28"/>
                      </a:lnTo>
                      <a:lnTo>
                        <a:pt x="1148" y="14"/>
                      </a:lnTo>
                      <a:lnTo>
                        <a:pt x="970" y="4"/>
                      </a:lnTo>
                      <a:lnTo>
                        <a:pt x="802" y="0"/>
                      </a:lnTo>
                      <a:lnTo>
                        <a:pt x="644" y="0"/>
                      </a:lnTo>
                      <a:lnTo>
                        <a:pt x="496" y="4"/>
                      </a:lnTo>
                      <a:lnTo>
                        <a:pt x="358" y="10"/>
                      </a:lnTo>
                      <a:lnTo>
                        <a:pt x="230" y="20"/>
                      </a:lnTo>
                      <a:lnTo>
                        <a:pt x="110" y="32"/>
                      </a:lnTo>
                      <a:lnTo>
                        <a:pt x="0" y="48"/>
                      </a:lnTo>
                      <a:lnTo>
                        <a:pt x="0" y="48"/>
                      </a:lnTo>
                      <a:lnTo>
                        <a:pt x="154" y="66"/>
                      </a:lnTo>
                      <a:lnTo>
                        <a:pt x="314" y="86"/>
                      </a:lnTo>
                      <a:lnTo>
                        <a:pt x="480" y="112"/>
                      </a:lnTo>
                      <a:lnTo>
                        <a:pt x="652" y="140"/>
                      </a:lnTo>
                      <a:lnTo>
                        <a:pt x="830" y="174"/>
                      </a:lnTo>
                      <a:lnTo>
                        <a:pt x="1014" y="210"/>
                      </a:lnTo>
                      <a:lnTo>
                        <a:pt x="1206" y="250"/>
                      </a:lnTo>
                      <a:lnTo>
                        <a:pt x="1402" y="296"/>
                      </a:lnTo>
                      <a:lnTo>
                        <a:pt x="1402" y="296"/>
                      </a:lnTo>
                      <a:lnTo>
                        <a:pt x="1756" y="378"/>
                      </a:lnTo>
                      <a:lnTo>
                        <a:pt x="2092" y="450"/>
                      </a:lnTo>
                      <a:lnTo>
                        <a:pt x="2408" y="516"/>
                      </a:lnTo>
                      <a:lnTo>
                        <a:pt x="2562" y="544"/>
                      </a:lnTo>
                      <a:lnTo>
                        <a:pt x="2708" y="572"/>
                      </a:lnTo>
                      <a:lnTo>
                        <a:pt x="2852" y="598"/>
                      </a:lnTo>
                      <a:lnTo>
                        <a:pt x="2992" y="620"/>
                      </a:lnTo>
                      <a:lnTo>
                        <a:pt x="3128" y="642"/>
                      </a:lnTo>
                      <a:lnTo>
                        <a:pt x="3260" y="662"/>
                      </a:lnTo>
                      <a:lnTo>
                        <a:pt x="3388" y="678"/>
                      </a:lnTo>
                      <a:lnTo>
                        <a:pt x="3512" y="694"/>
                      </a:lnTo>
                      <a:lnTo>
                        <a:pt x="3632" y="708"/>
                      </a:lnTo>
                      <a:lnTo>
                        <a:pt x="3750" y="722"/>
                      </a:lnTo>
                      <a:lnTo>
                        <a:pt x="3864" y="732"/>
                      </a:lnTo>
                      <a:lnTo>
                        <a:pt x="3974" y="740"/>
                      </a:lnTo>
                      <a:lnTo>
                        <a:pt x="4080" y="748"/>
                      </a:lnTo>
                      <a:lnTo>
                        <a:pt x="4184" y="754"/>
                      </a:lnTo>
                      <a:lnTo>
                        <a:pt x="4286" y="758"/>
                      </a:lnTo>
                      <a:lnTo>
                        <a:pt x="4384" y="762"/>
                      </a:lnTo>
                      <a:lnTo>
                        <a:pt x="4478" y="762"/>
                      </a:lnTo>
                      <a:lnTo>
                        <a:pt x="4570" y="762"/>
                      </a:lnTo>
                      <a:lnTo>
                        <a:pt x="4660" y="760"/>
                      </a:lnTo>
                      <a:lnTo>
                        <a:pt x="4746" y="758"/>
                      </a:lnTo>
                      <a:lnTo>
                        <a:pt x="4830" y="754"/>
                      </a:lnTo>
                      <a:lnTo>
                        <a:pt x="4912" y="748"/>
                      </a:lnTo>
                      <a:lnTo>
                        <a:pt x="4992" y="740"/>
                      </a:lnTo>
                      <a:lnTo>
                        <a:pt x="5068" y="732"/>
                      </a:lnTo>
                      <a:lnTo>
                        <a:pt x="5144" y="724"/>
                      </a:lnTo>
                      <a:lnTo>
                        <a:pt x="5216" y="714"/>
                      </a:lnTo>
                      <a:lnTo>
                        <a:pt x="5216" y="714"/>
                      </a:lnTo>
                      <a:close/>
                    </a:path>
                  </a:pathLst>
                </a:custGeom>
                <a:solidFill>
                  <a:schemeClr val="bg2">
                    <a:alpha val="40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" name="Freeform 22"/>
                <p:cNvSpPr>
                  <a:spLocks/>
                </p:cNvSpPr>
                <p:nvPr/>
              </p:nvSpPr>
              <p:spPr bwMode="hidden">
                <a:xfrm>
                  <a:off x="3175" y="4335463"/>
                  <a:ext cx="8166100" cy="1101725"/>
                </a:xfrm>
                <a:custGeom>
                  <a:avLst/>
                  <a:gdLst/>
                  <a:ahLst/>
                  <a:cxnLst>
                    <a:cxn ang="0">
                      <a:pos x="0" y="70"/>
                    </a:cxn>
                    <a:cxn ang="0">
                      <a:pos x="0" y="70"/>
                    </a:cxn>
                    <a:cxn ang="0">
                      <a:pos x="18" y="66"/>
                    </a:cxn>
                    <a:cxn ang="0">
                      <a:pos x="72" y="56"/>
                    </a:cxn>
                    <a:cxn ang="0">
                      <a:pos x="164" y="42"/>
                    </a:cxn>
                    <a:cxn ang="0">
                      <a:pos x="224" y="34"/>
                    </a:cxn>
                    <a:cxn ang="0">
                      <a:pos x="294" y="26"/>
                    </a:cxn>
                    <a:cxn ang="0">
                      <a:pos x="372" y="20"/>
                    </a:cxn>
                    <a:cxn ang="0">
                      <a:pos x="462" y="14"/>
                    </a:cxn>
                    <a:cxn ang="0">
                      <a:pos x="560" y="8"/>
                    </a:cxn>
                    <a:cxn ang="0">
                      <a:pos x="670" y="4"/>
                    </a:cxn>
                    <a:cxn ang="0">
                      <a:pos x="790" y="2"/>
                    </a:cxn>
                    <a:cxn ang="0">
                      <a:pos x="920" y="0"/>
                    </a:cxn>
                    <a:cxn ang="0">
                      <a:pos x="1060" y="2"/>
                    </a:cxn>
                    <a:cxn ang="0">
                      <a:pos x="1210" y="6"/>
                    </a:cxn>
                    <a:cxn ang="0">
                      <a:pos x="1372" y="14"/>
                    </a:cxn>
                    <a:cxn ang="0">
                      <a:pos x="1544" y="24"/>
                    </a:cxn>
                    <a:cxn ang="0">
                      <a:pos x="1726" y="40"/>
                    </a:cxn>
                    <a:cxn ang="0">
                      <a:pos x="1920" y="58"/>
                    </a:cxn>
                    <a:cxn ang="0">
                      <a:pos x="2126" y="80"/>
                    </a:cxn>
                    <a:cxn ang="0">
                      <a:pos x="2342" y="106"/>
                    </a:cxn>
                    <a:cxn ang="0">
                      <a:pos x="2570" y="138"/>
                    </a:cxn>
                    <a:cxn ang="0">
                      <a:pos x="2808" y="174"/>
                    </a:cxn>
                    <a:cxn ang="0">
                      <a:pos x="3058" y="216"/>
                    </a:cxn>
                    <a:cxn ang="0">
                      <a:pos x="3320" y="266"/>
                    </a:cxn>
                    <a:cxn ang="0">
                      <a:pos x="3594" y="320"/>
                    </a:cxn>
                    <a:cxn ang="0">
                      <a:pos x="3880" y="380"/>
                    </a:cxn>
                    <a:cxn ang="0">
                      <a:pos x="4178" y="448"/>
                    </a:cxn>
                    <a:cxn ang="0">
                      <a:pos x="4488" y="522"/>
                    </a:cxn>
                    <a:cxn ang="0">
                      <a:pos x="4810" y="604"/>
                    </a:cxn>
                    <a:cxn ang="0">
                      <a:pos x="5144" y="694"/>
                    </a:cxn>
                  </a:cxnLst>
                  <a:rect l="0" t="0" r="r" b="b"/>
                  <a:pathLst>
                    <a:path w="5144" h="694">
                      <a:moveTo>
                        <a:pt x="0" y="70"/>
                      </a:moveTo>
                      <a:lnTo>
                        <a:pt x="0" y="70"/>
                      </a:lnTo>
                      <a:lnTo>
                        <a:pt x="18" y="66"/>
                      </a:lnTo>
                      <a:lnTo>
                        <a:pt x="72" y="56"/>
                      </a:lnTo>
                      <a:lnTo>
                        <a:pt x="164" y="42"/>
                      </a:lnTo>
                      <a:lnTo>
                        <a:pt x="224" y="34"/>
                      </a:lnTo>
                      <a:lnTo>
                        <a:pt x="294" y="26"/>
                      </a:lnTo>
                      <a:lnTo>
                        <a:pt x="372" y="20"/>
                      </a:lnTo>
                      <a:lnTo>
                        <a:pt x="462" y="14"/>
                      </a:lnTo>
                      <a:lnTo>
                        <a:pt x="560" y="8"/>
                      </a:lnTo>
                      <a:lnTo>
                        <a:pt x="670" y="4"/>
                      </a:lnTo>
                      <a:lnTo>
                        <a:pt x="790" y="2"/>
                      </a:lnTo>
                      <a:lnTo>
                        <a:pt x="920" y="0"/>
                      </a:lnTo>
                      <a:lnTo>
                        <a:pt x="1060" y="2"/>
                      </a:lnTo>
                      <a:lnTo>
                        <a:pt x="1210" y="6"/>
                      </a:lnTo>
                      <a:lnTo>
                        <a:pt x="1372" y="14"/>
                      </a:lnTo>
                      <a:lnTo>
                        <a:pt x="1544" y="24"/>
                      </a:lnTo>
                      <a:lnTo>
                        <a:pt x="1726" y="40"/>
                      </a:lnTo>
                      <a:lnTo>
                        <a:pt x="1920" y="58"/>
                      </a:lnTo>
                      <a:lnTo>
                        <a:pt x="2126" y="80"/>
                      </a:lnTo>
                      <a:lnTo>
                        <a:pt x="2342" y="106"/>
                      </a:lnTo>
                      <a:lnTo>
                        <a:pt x="2570" y="138"/>
                      </a:lnTo>
                      <a:lnTo>
                        <a:pt x="2808" y="174"/>
                      </a:lnTo>
                      <a:lnTo>
                        <a:pt x="3058" y="216"/>
                      </a:lnTo>
                      <a:lnTo>
                        <a:pt x="3320" y="266"/>
                      </a:lnTo>
                      <a:lnTo>
                        <a:pt x="3594" y="320"/>
                      </a:lnTo>
                      <a:lnTo>
                        <a:pt x="3880" y="380"/>
                      </a:lnTo>
                      <a:lnTo>
                        <a:pt x="4178" y="448"/>
                      </a:lnTo>
                      <a:lnTo>
                        <a:pt x="4488" y="522"/>
                      </a:lnTo>
                      <a:lnTo>
                        <a:pt x="4810" y="604"/>
                      </a:lnTo>
                      <a:lnTo>
                        <a:pt x="5144" y="694"/>
                      </a:lnTo>
                    </a:path>
                  </a:pathLst>
                </a:custGeom>
                <a:noFill/>
                <a:ln w="12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" name="Freeform 26"/>
                <p:cNvSpPr>
                  <a:spLocks/>
                </p:cNvSpPr>
                <p:nvPr/>
              </p:nvSpPr>
              <p:spPr bwMode="hidden">
                <a:xfrm>
                  <a:off x="4156075" y="4316413"/>
                  <a:ext cx="4940300" cy="927100"/>
                </a:xfrm>
                <a:custGeom>
                  <a:avLst/>
                  <a:gdLst/>
                  <a:ahLst/>
                  <a:cxnLst>
                    <a:cxn ang="0">
                      <a:pos x="0" y="584"/>
                    </a:cxn>
                    <a:cxn ang="0">
                      <a:pos x="0" y="584"/>
                    </a:cxn>
                    <a:cxn ang="0">
                      <a:pos x="90" y="560"/>
                    </a:cxn>
                    <a:cxn ang="0">
                      <a:pos x="336" y="498"/>
                    </a:cxn>
                    <a:cxn ang="0">
                      <a:pos x="506" y="456"/>
                    </a:cxn>
                    <a:cxn ang="0">
                      <a:pos x="702" y="410"/>
                    </a:cxn>
                    <a:cxn ang="0">
                      <a:pos x="920" y="360"/>
                    </a:cxn>
                    <a:cxn ang="0">
                      <a:pos x="1154" y="306"/>
                    </a:cxn>
                    <a:cxn ang="0">
                      <a:pos x="1402" y="254"/>
                    </a:cxn>
                    <a:cxn ang="0">
                      <a:pos x="1656" y="202"/>
                    </a:cxn>
                    <a:cxn ang="0">
                      <a:pos x="1916" y="154"/>
                    </a:cxn>
                    <a:cxn ang="0">
                      <a:pos x="2174" y="108"/>
                    </a:cxn>
                    <a:cxn ang="0">
                      <a:pos x="2302" y="88"/>
                    </a:cxn>
                    <a:cxn ang="0">
                      <a:pos x="2426" y="68"/>
                    </a:cxn>
                    <a:cxn ang="0">
                      <a:pos x="2550" y="52"/>
                    </a:cxn>
                    <a:cxn ang="0">
                      <a:pos x="2670" y="36"/>
                    </a:cxn>
                    <a:cxn ang="0">
                      <a:pos x="2788" y="24"/>
                    </a:cxn>
                    <a:cxn ang="0">
                      <a:pos x="2900" y="14"/>
                    </a:cxn>
                    <a:cxn ang="0">
                      <a:pos x="3008" y="6"/>
                    </a:cxn>
                    <a:cxn ang="0">
                      <a:pos x="3112" y="0"/>
                    </a:cxn>
                  </a:cxnLst>
                  <a:rect l="0" t="0" r="r" b="b"/>
                  <a:pathLst>
                    <a:path w="3112" h="584">
                      <a:moveTo>
                        <a:pt x="0" y="584"/>
                      </a:moveTo>
                      <a:lnTo>
                        <a:pt x="0" y="584"/>
                      </a:lnTo>
                      <a:lnTo>
                        <a:pt x="90" y="560"/>
                      </a:lnTo>
                      <a:lnTo>
                        <a:pt x="336" y="498"/>
                      </a:lnTo>
                      <a:lnTo>
                        <a:pt x="506" y="456"/>
                      </a:lnTo>
                      <a:lnTo>
                        <a:pt x="702" y="410"/>
                      </a:lnTo>
                      <a:lnTo>
                        <a:pt x="920" y="360"/>
                      </a:lnTo>
                      <a:lnTo>
                        <a:pt x="1154" y="306"/>
                      </a:lnTo>
                      <a:lnTo>
                        <a:pt x="1402" y="254"/>
                      </a:lnTo>
                      <a:lnTo>
                        <a:pt x="1656" y="202"/>
                      </a:lnTo>
                      <a:lnTo>
                        <a:pt x="1916" y="154"/>
                      </a:lnTo>
                      <a:lnTo>
                        <a:pt x="2174" y="108"/>
                      </a:lnTo>
                      <a:lnTo>
                        <a:pt x="2302" y="88"/>
                      </a:lnTo>
                      <a:lnTo>
                        <a:pt x="2426" y="68"/>
                      </a:lnTo>
                      <a:lnTo>
                        <a:pt x="2550" y="52"/>
                      </a:lnTo>
                      <a:lnTo>
                        <a:pt x="2670" y="36"/>
                      </a:lnTo>
                      <a:lnTo>
                        <a:pt x="2788" y="24"/>
                      </a:lnTo>
                      <a:lnTo>
                        <a:pt x="2900" y="14"/>
                      </a:lnTo>
                      <a:lnTo>
                        <a:pt x="3008" y="6"/>
                      </a:lnTo>
                      <a:lnTo>
                        <a:pt x="3112" y="0"/>
                      </a:lnTo>
                    </a:path>
                  </a:pathLst>
                </a:custGeom>
                <a:noFill/>
                <a:ln w="12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 useBgFill="1">
              <p:nvSpPr>
                <p:cNvPr id="25" name="Freeform 10"/>
                <p:cNvSpPr>
                  <a:spLocks/>
                </p:cNvSpPr>
                <p:nvPr/>
              </p:nvSpPr>
              <p:spPr bwMode="hidden">
                <a:xfrm>
                  <a:off x="-3905251" y="4294188"/>
                  <a:ext cx="13027839" cy="1892300"/>
                </a:xfrm>
                <a:custGeom>
                  <a:avLst/>
                  <a:gdLst/>
                  <a:ahLst/>
                  <a:cxnLst>
                    <a:cxn ang="0">
                      <a:pos x="8192" y="512"/>
                    </a:cxn>
                    <a:cxn ang="0">
                      <a:pos x="8040" y="570"/>
                    </a:cxn>
                    <a:cxn ang="0">
                      <a:pos x="7878" y="620"/>
                    </a:cxn>
                    <a:cxn ang="0">
                      <a:pos x="7706" y="666"/>
                    </a:cxn>
                    <a:cxn ang="0">
                      <a:pos x="7522" y="702"/>
                    </a:cxn>
                    <a:cxn ang="0">
                      <a:pos x="7322" y="730"/>
                    </a:cxn>
                    <a:cxn ang="0">
                      <a:pos x="7106" y="750"/>
                    </a:cxn>
                    <a:cxn ang="0">
                      <a:pos x="6872" y="762"/>
                    </a:cxn>
                    <a:cxn ang="0">
                      <a:pos x="6618" y="760"/>
                    </a:cxn>
                    <a:cxn ang="0">
                      <a:pos x="6342" y="750"/>
                    </a:cxn>
                    <a:cxn ang="0">
                      <a:pos x="6042" y="726"/>
                    </a:cxn>
                    <a:cxn ang="0">
                      <a:pos x="5716" y="690"/>
                    </a:cxn>
                    <a:cxn ang="0">
                      <a:pos x="5364" y="642"/>
                    </a:cxn>
                    <a:cxn ang="0">
                      <a:pos x="4982" y="578"/>
                    </a:cxn>
                    <a:cxn ang="0">
                      <a:pos x="4568" y="500"/>
                    </a:cxn>
                    <a:cxn ang="0">
                      <a:pos x="4122" y="406"/>
                    </a:cxn>
                    <a:cxn ang="0">
                      <a:pos x="3640" y="296"/>
                    </a:cxn>
                    <a:cxn ang="0">
                      <a:pos x="3396" y="240"/>
                    </a:cxn>
                    <a:cxn ang="0">
                      <a:pos x="2934" y="148"/>
                    </a:cxn>
                    <a:cxn ang="0">
                      <a:pos x="2512" y="82"/>
                    </a:cxn>
                    <a:cxn ang="0">
                      <a:pos x="2126" y="36"/>
                    </a:cxn>
                    <a:cxn ang="0">
                      <a:pos x="1776" y="10"/>
                    </a:cxn>
                    <a:cxn ang="0">
                      <a:pos x="1462" y="0"/>
                    </a:cxn>
                    <a:cxn ang="0">
                      <a:pos x="1182" y="4"/>
                    </a:cxn>
                    <a:cxn ang="0">
                      <a:pos x="934" y="20"/>
                    </a:cxn>
                    <a:cxn ang="0">
                      <a:pos x="716" y="44"/>
                    </a:cxn>
                    <a:cxn ang="0">
                      <a:pos x="530" y="74"/>
                    </a:cxn>
                    <a:cxn ang="0">
                      <a:pos x="374" y="108"/>
                    </a:cxn>
                    <a:cxn ang="0">
                      <a:pos x="248" y="144"/>
                    </a:cxn>
                    <a:cxn ang="0">
                      <a:pos x="148" y="176"/>
                    </a:cxn>
                    <a:cxn ang="0">
                      <a:pos x="48" y="216"/>
                    </a:cxn>
                    <a:cxn ang="0">
                      <a:pos x="0" y="240"/>
                    </a:cxn>
                    <a:cxn ang="0">
                      <a:pos x="8192" y="1192"/>
                    </a:cxn>
                    <a:cxn ang="0">
                      <a:pos x="8196" y="1186"/>
                    </a:cxn>
                    <a:cxn ang="0">
                      <a:pos x="8196" y="510"/>
                    </a:cxn>
                    <a:cxn ang="0">
                      <a:pos x="8192" y="512"/>
                    </a:cxn>
                  </a:cxnLst>
                  <a:rect l="0" t="0" r="r" b="b"/>
                  <a:pathLst>
                    <a:path w="8196" h="1192">
                      <a:moveTo>
                        <a:pt x="8192" y="512"/>
                      </a:moveTo>
                      <a:lnTo>
                        <a:pt x="8192" y="512"/>
                      </a:lnTo>
                      <a:lnTo>
                        <a:pt x="8116" y="542"/>
                      </a:lnTo>
                      <a:lnTo>
                        <a:pt x="8040" y="570"/>
                      </a:lnTo>
                      <a:lnTo>
                        <a:pt x="7960" y="596"/>
                      </a:lnTo>
                      <a:lnTo>
                        <a:pt x="7878" y="620"/>
                      </a:lnTo>
                      <a:lnTo>
                        <a:pt x="7794" y="644"/>
                      </a:lnTo>
                      <a:lnTo>
                        <a:pt x="7706" y="666"/>
                      </a:lnTo>
                      <a:lnTo>
                        <a:pt x="7616" y="684"/>
                      </a:lnTo>
                      <a:lnTo>
                        <a:pt x="7522" y="702"/>
                      </a:lnTo>
                      <a:lnTo>
                        <a:pt x="7424" y="718"/>
                      </a:lnTo>
                      <a:lnTo>
                        <a:pt x="7322" y="730"/>
                      </a:lnTo>
                      <a:lnTo>
                        <a:pt x="7216" y="742"/>
                      </a:lnTo>
                      <a:lnTo>
                        <a:pt x="7106" y="750"/>
                      </a:lnTo>
                      <a:lnTo>
                        <a:pt x="6992" y="758"/>
                      </a:lnTo>
                      <a:lnTo>
                        <a:pt x="6872" y="762"/>
                      </a:lnTo>
                      <a:lnTo>
                        <a:pt x="6748" y="762"/>
                      </a:lnTo>
                      <a:lnTo>
                        <a:pt x="6618" y="760"/>
                      </a:lnTo>
                      <a:lnTo>
                        <a:pt x="6482" y="756"/>
                      </a:lnTo>
                      <a:lnTo>
                        <a:pt x="6342" y="750"/>
                      </a:lnTo>
                      <a:lnTo>
                        <a:pt x="6196" y="740"/>
                      </a:lnTo>
                      <a:lnTo>
                        <a:pt x="6042" y="726"/>
                      </a:lnTo>
                      <a:lnTo>
                        <a:pt x="5882" y="710"/>
                      </a:lnTo>
                      <a:lnTo>
                        <a:pt x="5716" y="690"/>
                      </a:lnTo>
                      <a:lnTo>
                        <a:pt x="5544" y="668"/>
                      </a:lnTo>
                      <a:lnTo>
                        <a:pt x="5364" y="642"/>
                      </a:lnTo>
                      <a:lnTo>
                        <a:pt x="5176" y="612"/>
                      </a:lnTo>
                      <a:lnTo>
                        <a:pt x="4982" y="578"/>
                      </a:lnTo>
                      <a:lnTo>
                        <a:pt x="4778" y="540"/>
                      </a:lnTo>
                      <a:lnTo>
                        <a:pt x="4568" y="500"/>
                      </a:lnTo>
                      <a:lnTo>
                        <a:pt x="4348" y="454"/>
                      </a:lnTo>
                      <a:lnTo>
                        <a:pt x="4122" y="406"/>
                      </a:lnTo>
                      <a:lnTo>
                        <a:pt x="3886" y="354"/>
                      </a:lnTo>
                      <a:lnTo>
                        <a:pt x="3640" y="296"/>
                      </a:lnTo>
                      <a:lnTo>
                        <a:pt x="3640" y="296"/>
                      </a:lnTo>
                      <a:lnTo>
                        <a:pt x="3396" y="240"/>
                      </a:lnTo>
                      <a:lnTo>
                        <a:pt x="3160" y="192"/>
                      </a:lnTo>
                      <a:lnTo>
                        <a:pt x="2934" y="148"/>
                      </a:lnTo>
                      <a:lnTo>
                        <a:pt x="2718" y="112"/>
                      </a:lnTo>
                      <a:lnTo>
                        <a:pt x="2512" y="82"/>
                      </a:lnTo>
                      <a:lnTo>
                        <a:pt x="2314" y="56"/>
                      </a:lnTo>
                      <a:lnTo>
                        <a:pt x="2126" y="36"/>
                      </a:lnTo>
                      <a:lnTo>
                        <a:pt x="1948" y="20"/>
                      </a:lnTo>
                      <a:lnTo>
                        <a:pt x="1776" y="10"/>
                      </a:lnTo>
                      <a:lnTo>
                        <a:pt x="1616" y="2"/>
                      </a:lnTo>
                      <a:lnTo>
                        <a:pt x="1462" y="0"/>
                      </a:lnTo>
                      <a:lnTo>
                        <a:pt x="1318" y="0"/>
                      </a:lnTo>
                      <a:lnTo>
                        <a:pt x="1182" y="4"/>
                      </a:lnTo>
                      <a:lnTo>
                        <a:pt x="1054" y="10"/>
                      </a:lnTo>
                      <a:lnTo>
                        <a:pt x="934" y="20"/>
                      </a:lnTo>
                      <a:lnTo>
                        <a:pt x="822" y="30"/>
                      </a:lnTo>
                      <a:lnTo>
                        <a:pt x="716" y="44"/>
                      </a:lnTo>
                      <a:lnTo>
                        <a:pt x="620" y="58"/>
                      </a:lnTo>
                      <a:lnTo>
                        <a:pt x="530" y="74"/>
                      </a:lnTo>
                      <a:lnTo>
                        <a:pt x="450" y="92"/>
                      </a:lnTo>
                      <a:lnTo>
                        <a:pt x="374" y="108"/>
                      </a:lnTo>
                      <a:lnTo>
                        <a:pt x="308" y="126"/>
                      </a:lnTo>
                      <a:lnTo>
                        <a:pt x="248" y="144"/>
                      </a:lnTo>
                      <a:lnTo>
                        <a:pt x="194" y="160"/>
                      </a:lnTo>
                      <a:lnTo>
                        <a:pt x="148" y="176"/>
                      </a:lnTo>
                      <a:lnTo>
                        <a:pt x="108" y="192"/>
                      </a:lnTo>
                      <a:lnTo>
                        <a:pt x="48" y="216"/>
                      </a:lnTo>
                      <a:lnTo>
                        <a:pt x="12" y="234"/>
                      </a:lnTo>
                      <a:lnTo>
                        <a:pt x="0" y="240"/>
                      </a:lnTo>
                      <a:lnTo>
                        <a:pt x="0" y="1192"/>
                      </a:lnTo>
                      <a:lnTo>
                        <a:pt x="8192" y="1192"/>
                      </a:lnTo>
                      <a:lnTo>
                        <a:pt x="8192" y="1192"/>
                      </a:lnTo>
                      <a:lnTo>
                        <a:pt x="8196" y="1186"/>
                      </a:lnTo>
                      <a:lnTo>
                        <a:pt x="8196" y="1186"/>
                      </a:lnTo>
                      <a:lnTo>
                        <a:pt x="8196" y="510"/>
                      </a:lnTo>
                      <a:lnTo>
                        <a:pt x="8196" y="510"/>
                      </a:lnTo>
                      <a:lnTo>
                        <a:pt x="8192" y="512"/>
                      </a:lnTo>
                      <a:lnTo>
                        <a:pt x="8192" y="512"/>
                      </a:lnTo>
                      <a:close/>
                    </a:path>
                  </a:pathLst>
                </a:custGeom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15" name="群組 14"/>
            <p:cNvGrpSpPr/>
            <p:nvPr userDrawn="1"/>
          </p:nvGrpSpPr>
          <p:grpSpPr>
            <a:xfrm>
              <a:off x="5887738" y="6077310"/>
              <a:ext cx="2667273" cy="656624"/>
              <a:chOff x="7044180" y="161655"/>
              <a:chExt cx="2783031" cy="801038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7044180" y="247762"/>
                <a:ext cx="2783031" cy="65147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prstTxWarp prst="textStop">
                  <a:avLst/>
                </a:prstTxWarp>
                <a:spAutoFit/>
              </a:bodyPr>
              <a:lstStyle/>
              <a:p>
                <a:pPr algn="ctr"/>
                <a:r>
                  <a:rPr lang="en-US" altLang="zh-TW" sz="5400" b="1" cap="none" spc="0" dirty="0" smtClean="0">
                    <a:ln w="12700">
                      <a:solidFill>
                        <a:schemeClr val="tx2">
                          <a:satMod val="155000"/>
                        </a:schemeClr>
                      </a:solidFill>
                      <a:prstDash val="solid"/>
                    </a:ln>
                    <a:solidFill>
                      <a:schemeClr val="bg2">
                        <a:tint val="85000"/>
                        <a:satMod val="155000"/>
                      </a:schemeClr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rPr>
                  <a:t>SC    PE</a:t>
                </a:r>
                <a:endParaRPr lang="zh-TW" altLang="en-US" sz="5400" b="1" cap="none" spc="0" dirty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</a:endParaRPr>
              </a:p>
            </p:txBody>
          </p:sp>
          <p:pic>
            <p:nvPicPr>
              <p:cNvPr id="17" name="圖片 16"/>
              <p:cNvPicPr>
                <a:picLocks noChangeAspect="1"/>
              </p:cNvPicPr>
              <p:nvPr/>
            </p:nvPicPr>
            <p:blipFill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8017363" y="161655"/>
                <a:ext cx="796996" cy="80103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884214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81" r:id="rId1"/>
    <p:sldLayoutId id="2147484882" r:id="rId2"/>
    <p:sldLayoutId id="2147484883" r:id="rId3"/>
    <p:sldLayoutId id="2147484884" r:id="rId4"/>
    <p:sldLayoutId id="2147484885" r:id="rId5"/>
    <p:sldLayoutId id="2147484886" r:id="rId6"/>
    <p:sldLayoutId id="2147484887" r:id="rId7"/>
    <p:sldLayoutId id="2147484888" r:id="rId8"/>
    <p:sldLayoutId id="2147484889" r:id="rId9"/>
    <p:sldLayoutId id="2147484890" r:id="rId10"/>
    <p:sldLayoutId id="2147484891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asm.us/pub/nasm/releasebuilds/2.09.02/win32/nasm-2.09.02-win32.zip" TargetMode="External"/><Relationship Id="rId2" Type="http://schemas.openxmlformats.org/officeDocument/2006/relationships/hyperlink" Target="http://www.cs.virginia.edu/~evans/cs216/guides/x86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cckmit.wikidot.com/as:inlinec" TargetMode="External"/><Relationship Id="rId5" Type="http://schemas.openxmlformats.org/officeDocument/2006/relationships/hyperlink" Target="http://www.ibiblio.org/gferg/ldp/GCC-Inline-Assembly-HOWTO.html" TargetMode="External"/><Relationship Id="rId4" Type="http://schemas.openxmlformats.org/officeDocument/2006/relationships/hyperlink" Target="http://eli.thegreenplace.net/2011/02/04/where-the-top-of-the-stack-is-on-x86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467557"/>
            <a:ext cx="7772400" cy="2132894"/>
          </a:xfrm>
        </p:spPr>
        <p:txBody>
          <a:bodyPr>
            <a:normAutofit/>
          </a:bodyPr>
          <a:lstStyle/>
          <a:p>
            <a:r>
              <a:rPr kumimoji="1" lang="en-US" altLang="zh-TW" dirty="0" smtClean="0"/>
              <a:t>Introduction to Programming(II)</a:t>
            </a:r>
            <a:r>
              <a:rPr kumimoji="1" lang="en-US" altLang="zh-TW" smtClean="0"/>
              <a:t/>
            </a:r>
            <a:br>
              <a:rPr kumimoji="1" lang="en-US" altLang="zh-TW" smtClean="0"/>
            </a:br>
            <a:r>
              <a:rPr kumimoji="1" lang="en-US" altLang="zh-TW" smtClean="0"/>
              <a:t>Assembly</a:t>
            </a:r>
            <a:endParaRPr kumimoji="1" lang="zh-TW" altLang="en-US" dirty="0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TW" altLang="en-US" dirty="0" smtClean="0"/>
              <a:t>李哲榮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612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How to get </a:t>
            </a:r>
            <a:r>
              <a:rPr lang="en-US" altLang="zh-TW" dirty="0" smtClean="0"/>
              <a:t>assembly code?</a:t>
            </a:r>
          </a:p>
          <a:p>
            <a:r>
              <a:rPr lang="en-US" altLang="zh-TW" dirty="0"/>
              <a:t>From C to </a:t>
            </a:r>
            <a:r>
              <a:rPr lang="en-US" altLang="zh-TW" dirty="0" smtClean="0"/>
              <a:t>assembly code</a:t>
            </a:r>
          </a:p>
          <a:p>
            <a:r>
              <a:rPr lang="en-US" altLang="zh-TW" dirty="0" err="1" smtClean="0"/>
              <a:t>gcc</a:t>
            </a:r>
            <a:r>
              <a:rPr lang="en-US" altLang="zh-TW" dirty="0" smtClean="0"/>
              <a:t> inline assembly</a:t>
            </a:r>
          </a:p>
          <a:p>
            <a:r>
              <a:rPr lang="en-US" altLang="zh-TW" dirty="0" smtClean="0"/>
              <a:t>Option: </a:t>
            </a:r>
            <a:r>
              <a:rPr lang="en-US" altLang="zh-TW" smtClean="0"/>
              <a:t>advanced syntaxes </a:t>
            </a:r>
            <a:r>
              <a:rPr lang="en-US" altLang="zh-TW" dirty="0" smtClean="0"/>
              <a:t>in assembly</a:t>
            </a:r>
          </a:p>
          <a:p>
            <a:pPr lvl="1"/>
            <a:r>
              <a:rPr lang="en-US" altLang="zh-TW" dirty="0" smtClean="0"/>
              <a:t>Pointers </a:t>
            </a:r>
          </a:p>
          <a:p>
            <a:pPr lvl="1"/>
            <a:r>
              <a:rPr lang="en-US" altLang="zh-TW" dirty="0" smtClean="0"/>
              <a:t>Arrays</a:t>
            </a:r>
          </a:p>
          <a:p>
            <a:pPr lvl="1"/>
            <a:r>
              <a:rPr lang="en-US" altLang="zh-TW" dirty="0" smtClean="0"/>
              <a:t>Function calls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67813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to get Assembly code?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6765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 codes (or any high level programs) are very different from the machine code</a:t>
            </a:r>
          </a:p>
          <a:p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What is assembly?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350044" y="2893685"/>
            <a:ext cx="516199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zh-TW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altLang="zh-TW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altLang="zh-TW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TW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main(){</a:t>
            </a:r>
          </a:p>
          <a:p>
            <a:r>
              <a:rPr lang="en-US" altLang="zh-TW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TW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zh-TW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(“Hello World!”);</a:t>
            </a:r>
          </a:p>
          <a:p>
            <a:r>
              <a:rPr lang="en-US" altLang="zh-TW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  <a:br>
              <a:rPr lang="en-US" altLang="zh-TW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TW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TW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512035" y="2709019"/>
            <a:ext cx="31747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01101001001001001101010101010010100101010101010101101010101011101101010101110010101010101011010110...</a:t>
            </a:r>
            <a:endParaRPr lang="zh-TW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721" y="2709019"/>
            <a:ext cx="3496235" cy="3958972"/>
          </a:xfrm>
          <a:prstGeom prst="rect">
            <a:avLst/>
          </a:prstGeom>
        </p:spPr>
      </p:pic>
      <p:sp>
        <p:nvSpPr>
          <p:cNvPr id="11" name="圓角矩形 10"/>
          <p:cNvSpPr/>
          <p:nvPr/>
        </p:nvSpPr>
        <p:spPr>
          <a:xfrm>
            <a:off x="1004047" y="4572000"/>
            <a:ext cx="3872753" cy="2016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 smtClean="0"/>
              <a:t>Answers: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2800" dirty="0" smtClean="0"/>
              <a:t>Human readable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2800" dirty="0" smtClean="0"/>
              <a:t>One to one to machine code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8121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the terminal, use </a:t>
            </a:r>
            <a:r>
              <a:rPr lang="zh-TW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gcc -S ex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zh-TW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zh-TW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 </a:t>
            </a:r>
            <a:r>
              <a:rPr lang="en-US" altLang="zh-TW" dirty="0" smtClean="0"/>
              <a:t>to get the assembly code of ex1.c</a:t>
            </a:r>
          </a:p>
          <a:p>
            <a:r>
              <a:rPr lang="en-US" altLang="zh-TW" dirty="0" smtClean="0"/>
              <a:t>In today’s lecture, we use x86 CPU and intel style’s assembly</a:t>
            </a:r>
          </a:p>
          <a:p>
            <a:pPr lvl="1"/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gcc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-S -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masm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=intel 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ex1.c</a:t>
            </a:r>
            <a:endParaRPr lang="en-US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dirty="0" smtClean="0"/>
              <a:t>To generate executable, you can compile the assembly code directly</a:t>
            </a:r>
          </a:p>
          <a:p>
            <a:pPr lvl="1"/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gcc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ex1.s</a:t>
            </a:r>
            <a:endParaRPr lang="en-US" altLang="zh-TW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to get the assembly code?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44277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From C to Assembly code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7055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 code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r>
              <a:rPr lang="en-US" altLang="zh-TW" dirty="0"/>
              <a:t>Assembly code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1: assignment 1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1143000" y="2228671"/>
            <a:ext cx="366656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a;</a:t>
            </a:r>
            <a:endParaRPr lang="en-US" altLang="zh-TW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main(void</a:t>
            </a:r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){    </a:t>
            </a:r>
            <a:endParaRPr lang="en-US" altLang="zh-TW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a = 3;</a:t>
            </a:r>
          </a:p>
          <a:p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TW" alt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43000" y="4695002"/>
            <a:ext cx="57105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DWORD PTR </a:t>
            </a:r>
            <a:r>
              <a:rPr lang="en-US" altLang="zh-TW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_a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3</a:t>
            </a:r>
            <a:endParaRPr lang="zh-TW" alt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34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MOV is an instruction in x86’s architecture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 smtClean="0"/>
              <a:t>In example 1, destination is a memory address, named 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_a</a:t>
            </a:r>
            <a:r>
              <a:rPr lang="en-US" altLang="zh-TW" dirty="0" smtClean="0"/>
              <a:t>, and source is a constant value (3).</a:t>
            </a:r>
          </a:p>
          <a:p>
            <a:r>
              <a:rPr lang="en-US" altLang="zh-TW" dirty="0" smtClean="0"/>
              <a:t>DWORD specifies</a:t>
            </a:r>
            <a:br>
              <a:rPr lang="en-US" altLang="zh-TW" dirty="0" smtClean="0"/>
            </a:br>
            <a:r>
              <a:rPr lang="en-US" altLang="zh-TW" dirty="0" smtClean="0"/>
              <a:t>the data size.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MOV instruction</a:t>
            </a:r>
            <a:endParaRPr lang="zh-TW" alt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775012" y="2269123"/>
            <a:ext cx="5862182" cy="58218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 destination</a:t>
            </a:r>
            <a:r>
              <a:rPr kumimoji="0" lang="zh-TW" altLang="zh-TW" sz="32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zh-TW" altLang="zh-TW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source</a:t>
            </a:r>
            <a:r>
              <a:rPr kumimoji="0" lang="zh-TW" altLang="zh-TW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zh-TW" altLang="zh-TW" sz="6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285533"/>
              </p:ext>
            </p:extLst>
          </p:nvPr>
        </p:nvGraphicFramePr>
        <p:xfrm>
          <a:off x="4572000" y="4125686"/>
          <a:ext cx="4267200" cy="2575560"/>
        </p:xfrm>
        <a:graphic>
          <a:graphicData uri="http://schemas.openxmlformats.org/drawingml/2006/table">
            <a:tbl>
              <a:tblPr/>
              <a:tblGrid>
                <a:gridCol w="2133600"/>
                <a:gridCol w="21336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 </a:t>
                      </a:r>
                      <a:r>
                        <a:rPr lang="en-US" sz="24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Specifier</a:t>
                      </a:r>
                      <a:endParaRPr lang="en-US" sz="24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Bytes addressed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BYTE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WORD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DWORD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QWORD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 marL="38100" marR="38100" marT="38100" marB="38100">
                    <a:lnL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5374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 code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r>
              <a:rPr lang="en-US" altLang="zh-TW" dirty="0"/>
              <a:t>Assembly code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2: assignment 2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1143000" y="2228671"/>
            <a:ext cx="366656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main(void</a:t>
            </a:r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TW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a = 3;</a:t>
            </a:r>
          </a:p>
          <a:p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TW" alt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43000" y="5138877"/>
            <a:ext cx="705074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DWORD PTR </a:t>
            </a:r>
            <a:r>
              <a:rPr lang="en-US" altLang="zh-TW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[esp+12]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3</a:t>
            </a:r>
            <a:endParaRPr lang="zh-TW" alt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雲朵形 4"/>
          <p:cNvSpPr/>
          <p:nvPr/>
        </p:nvSpPr>
        <p:spPr>
          <a:xfrm>
            <a:off x="4128248" y="1869141"/>
            <a:ext cx="4805081" cy="3094801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smtClean="0"/>
              <a:t>What’s differences between ex1 and ex2?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611721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Registers in x86 CPU</a:t>
            </a:r>
            <a:endParaRPr lang="zh-TW" altLang="en-US" dirty="0"/>
          </a:p>
        </p:txBody>
      </p:sp>
      <p:pic>
        <p:nvPicPr>
          <p:cNvPr id="4098" name="Picture 2" descr="http://www.cs.virginia.edu/~evans/cs216/guides/x86-registers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41" y="1404191"/>
            <a:ext cx="7198659" cy="5398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968188" y="5074024"/>
            <a:ext cx="1595718" cy="75303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F1D00-BD13-4404-86B0-79703945A0A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74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600200"/>
            <a:ext cx="4867835" cy="4525963"/>
          </a:xfrm>
        </p:spPr>
        <p:txBody>
          <a:bodyPr/>
          <a:lstStyle/>
          <a:p>
            <a:r>
              <a:rPr lang="en-US" altLang="zh-TW" dirty="0" smtClean="0"/>
              <a:t>Register 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altLang="zh-TW" dirty="0" smtClean="0"/>
              <a:t> holds an </a:t>
            </a:r>
            <a:r>
              <a:rPr lang="en-US" altLang="zh-TW" dirty="0" smtClean="0">
                <a:solidFill>
                  <a:srgbClr val="FF0000"/>
                </a:solidFill>
              </a:rPr>
              <a:t>address</a:t>
            </a:r>
            <a:r>
              <a:rPr lang="en-US" altLang="zh-TW" dirty="0" smtClean="0"/>
              <a:t> of memory.</a:t>
            </a: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[esp+12]</a:t>
            </a:r>
            <a:r>
              <a:rPr lang="en-US" altLang="zh-TW" dirty="0" smtClean="0"/>
              <a:t> is a memory address, whose cell is 12 bytes below the memory cell addressed 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altLang="zh-TW" dirty="0" smtClean="0"/>
              <a:t>.</a:t>
            </a:r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Indirect memory access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5680175" y="2993706"/>
            <a:ext cx="1739153" cy="6992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5684657" y="3678993"/>
            <a:ext cx="1739153" cy="6992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5684657" y="4387212"/>
            <a:ext cx="1739153" cy="6992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5680175" y="5102755"/>
            <a:ext cx="1739153" cy="6992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5684657" y="2252390"/>
            <a:ext cx="1739153" cy="6992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7533052" y="2337136"/>
            <a:ext cx="9140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[</a:t>
            </a:r>
            <a:r>
              <a:rPr lang="en-US" altLang="zh-TW" sz="2800" dirty="0" err="1" smtClean="0"/>
              <a:t>esp</a:t>
            </a:r>
            <a:r>
              <a:rPr lang="en-US" altLang="zh-TW" sz="2800" dirty="0" smtClean="0"/>
              <a:t>]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7513642" y="3078452"/>
            <a:ext cx="1459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[esp+04]</a:t>
            </a:r>
            <a:endParaRPr lang="zh-TW" altLang="en-US" sz="28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7541956" y="3784234"/>
            <a:ext cx="1459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[esp+08]</a:t>
            </a:r>
            <a:endParaRPr lang="zh-TW" altLang="en-US" sz="28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7526539" y="4516103"/>
            <a:ext cx="1459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[esp+12]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542015" y="5207934"/>
            <a:ext cx="1459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[esp+16]</a:t>
            </a:r>
            <a:endParaRPr lang="zh-TW" altLang="en-US" sz="2800" dirty="0"/>
          </a:p>
        </p:txBody>
      </p:sp>
      <p:sp>
        <p:nvSpPr>
          <p:cNvPr id="14" name="矩形 13"/>
          <p:cNvSpPr/>
          <p:nvPr/>
        </p:nvSpPr>
        <p:spPr>
          <a:xfrm>
            <a:off x="2581835" y="4962847"/>
            <a:ext cx="2277036" cy="71717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肘形接點 15"/>
          <p:cNvCxnSpPr>
            <a:stCxn id="14" idx="3"/>
            <a:endCxn id="8" idx="1"/>
          </p:cNvCxnSpPr>
          <p:nvPr/>
        </p:nvCxnSpPr>
        <p:spPr>
          <a:xfrm flipV="1">
            <a:off x="4858871" y="2602014"/>
            <a:ext cx="825786" cy="2719422"/>
          </a:xfrm>
          <a:prstGeom prst="bentConnector3">
            <a:avLst/>
          </a:prstGeom>
          <a:ln w="508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2746240" y="5732789"/>
            <a:ext cx="19482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Register </a:t>
            </a:r>
            <a:r>
              <a:rPr lang="en-US" altLang="zh-TW" sz="2800" dirty="0" err="1" smtClean="0"/>
              <a:t>esp</a:t>
            </a:r>
            <a:endParaRPr lang="zh-TW" altLang="en-US" sz="28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5832183" y="1503975"/>
            <a:ext cx="14351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Memory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513642" y="1503975"/>
            <a:ext cx="13517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Address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385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Number all seats from 0, 4, 8, …</a:t>
            </a:r>
          </a:p>
          <a:p>
            <a:r>
              <a:rPr lang="en-US" altLang="zh-TW" dirty="0" smtClean="0"/>
              <a:t>Write a number on the blackboard as the content of 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Ask where is 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[esp+12]</a:t>
            </a:r>
            <a:r>
              <a:rPr lang="en-US" altLang="zh-TW" dirty="0" smtClean="0"/>
              <a:t>, and put 3 to that seat.</a:t>
            </a:r>
          </a:p>
          <a:p>
            <a:r>
              <a:rPr lang="en-US" altLang="zh-TW" dirty="0" smtClean="0"/>
              <a:t>Change the number of </a:t>
            </a:r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altLang="zh-TW" dirty="0" smtClean="0"/>
              <a:t>, and ask again.</a:t>
            </a:r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Analogy of seat arrangement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04647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Variable 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TW" dirty="0" smtClean="0"/>
              <a:t> in example 1 is a </a:t>
            </a:r>
            <a:r>
              <a:rPr lang="en-US" altLang="zh-TW" dirty="0" smtClean="0">
                <a:solidFill>
                  <a:srgbClr val="FF0000"/>
                </a:solidFill>
              </a:rPr>
              <a:t>global variable</a:t>
            </a:r>
            <a:r>
              <a:rPr lang="en-US" altLang="zh-TW" dirty="0" smtClean="0"/>
              <a:t>, and in example 2 is a </a:t>
            </a:r>
            <a:r>
              <a:rPr lang="en-US" altLang="zh-TW" dirty="0" smtClean="0">
                <a:solidFill>
                  <a:srgbClr val="FF0000"/>
                </a:solidFill>
              </a:rPr>
              <a:t>local variable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Global variable vs. local variable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628194"/>
              </p:ext>
            </p:extLst>
          </p:nvPr>
        </p:nvGraphicFramePr>
        <p:xfrm>
          <a:off x="457200" y="2723777"/>
          <a:ext cx="8229600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2796988"/>
                <a:gridCol w="3451412"/>
              </a:tblGrid>
              <a:tr h="370840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Global variable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Local variable</a:t>
                      </a:r>
                      <a:endParaRPr lang="zh-TW" alt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Creation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Program starts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Function is called</a:t>
                      </a:r>
                      <a:endParaRPr lang="zh-TW" alt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Life</a:t>
                      </a:r>
                      <a:r>
                        <a:rPr lang="en-US" altLang="zh-TW" sz="2800" baseline="0" dirty="0" smtClean="0"/>
                        <a:t> time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Program stops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Function returns</a:t>
                      </a:r>
                      <a:endParaRPr lang="zh-TW" alt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Copies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Only one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The</a:t>
                      </a:r>
                      <a:r>
                        <a:rPr lang="en-US" altLang="zh-TW" sz="2800" baseline="0" dirty="0" smtClean="0"/>
                        <a:t> number of function called.</a:t>
                      </a:r>
                      <a:endParaRPr lang="zh-TW" altLang="en-US" sz="28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Address 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In the </a:t>
                      </a:r>
                      <a:r>
                        <a:rPr lang="en-US" altLang="zh-TW" sz="2800" dirty="0" smtClean="0">
                          <a:solidFill>
                            <a:srgbClr val="FF0000"/>
                          </a:solidFill>
                        </a:rPr>
                        <a:t>data </a:t>
                      </a:r>
                      <a:r>
                        <a:rPr lang="en-US" altLang="zh-TW" sz="2800" dirty="0" err="1" smtClean="0">
                          <a:solidFill>
                            <a:srgbClr val="FF0000"/>
                          </a:solidFill>
                        </a:rPr>
                        <a:t>seg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In the</a:t>
                      </a:r>
                      <a:r>
                        <a:rPr lang="en-US" altLang="zh-TW" sz="2800" baseline="0" dirty="0" smtClean="0"/>
                        <a:t> </a:t>
                      </a:r>
                      <a:r>
                        <a:rPr lang="en-US" altLang="zh-TW" sz="2800" baseline="0" dirty="0" smtClean="0">
                          <a:solidFill>
                            <a:srgbClr val="FF0000"/>
                          </a:solidFill>
                        </a:rPr>
                        <a:t>stack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Accessible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Everywhere 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Within the function</a:t>
                      </a:r>
                      <a:endParaRPr lang="zh-TW" altLang="en-US" sz="28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0930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 code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r>
              <a:rPr lang="en-US" altLang="zh-TW" dirty="0"/>
              <a:t>Assembly code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3: assignment 3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1143000" y="2228671"/>
            <a:ext cx="366656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main(void){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TW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a, b;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b = a;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TW" alt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43000" y="4695002"/>
            <a:ext cx="733761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DWORD PTR [esp+12]</a:t>
            </a:r>
          </a:p>
          <a:p>
            <a:r>
              <a:rPr lang="en-US" altLang="zh-TW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DWORD PTR [esp+8], </a:t>
            </a:r>
            <a:r>
              <a:rPr lang="en-US" altLang="zh-TW" sz="28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zh-TW" altLang="en-US" sz="28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雲朵形 4"/>
          <p:cNvSpPr/>
          <p:nvPr/>
        </p:nvSpPr>
        <p:spPr>
          <a:xfrm>
            <a:off x="5020234" y="2038954"/>
            <a:ext cx="3666565" cy="2656048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err="1" smtClean="0"/>
              <a:t>eax</a:t>
            </a:r>
            <a:r>
              <a:rPr lang="en-US" altLang="zh-TW" sz="2800" dirty="0" smtClean="0"/>
              <a:t> is another register in x86 CPU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417074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14900"/>
          </a:xfrm>
        </p:spPr>
        <p:txBody>
          <a:bodyPr>
            <a:normAutofit/>
          </a:bodyPr>
          <a:lstStyle/>
          <a:p>
            <a:endParaRPr lang="en-US" altLang="zh-TW" dirty="0" smtClean="0"/>
          </a:p>
          <a:p>
            <a:r>
              <a:rPr lang="en-US" altLang="zh-TW" dirty="0" smtClean="0"/>
              <a:t>In the syntax of MOV, none of them are destination=mem and source=mem</a:t>
            </a:r>
          </a:p>
          <a:p>
            <a:pPr lvl="1"/>
            <a:r>
              <a:rPr lang="en-US" altLang="zh-TW" dirty="0"/>
              <a:t>Why</a:t>
            </a:r>
            <a:r>
              <a:rPr lang="en-US" altLang="zh-TW" dirty="0" smtClean="0"/>
              <a:t>? </a:t>
            </a:r>
          </a:p>
          <a:p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&lt;mem&gt; </a:t>
            </a:r>
            <a:r>
              <a:rPr lang="en-US" altLang="zh-TW" dirty="0" smtClean="0"/>
              <a:t>can be a </a:t>
            </a:r>
            <a:br>
              <a:rPr lang="en-US" altLang="zh-TW" dirty="0" smtClean="0"/>
            </a:br>
            <a:r>
              <a:rPr lang="en-US" altLang="zh-TW" dirty="0" smtClean="0"/>
              <a:t>direct address or </a:t>
            </a:r>
            <a:br>
              <a:rPr lang="en-US" altLang="zh-TW" dirty="0" smtClean="0"/>
            </a:br>
            <a:r>
              <a:rPr lang="en-US" altLang="zh-TW" dirty="0" smtClean="0"/>
              <a:t>an indirect address</a:t>
            </a:r>
          </a:p>
          <a:p>
            <a:r>
              <a:rPr lang="en-US" altLang="zh-TW" dirty="0" smtClean="0"/>
              <a:t>A single 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b=a</a:t>
            </a:r>
            <a:r>
              <a:rPr lang="en-US" altLang="zh-TW" dirty="0" smtClean="0"/>
              <a:t> needs 2</a:t>
            </a:r>
            <a:br>
              <a:rPr lang="en-US" altLang="zh-TW" dirty="0" smtClean="0"/>
            </a:br>
            <a:r>
              <a:rPr lang="en-US" altLang="zh-TW" dirty="0" smtClean="0"/>
              <a:t>instructions.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Syntax of MOV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791456" y="3569514"/>
            <a:ext cx="4082380" cy="273921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3200" dirty="0"/>
              <a:t>Valid MOV syntax</a:t>
            </a:r>
          </a:p>
          <a:p>
            <a:r>
              <a:rPr lang="en-US" altLang="zh-TW" sz="28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mov</a:t>
            </a:r>
            <a:r>
              <a:rPr lang="en-US" altLang="zh-TW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sz="2800" dirty="0">
                <a:solidFill>
                  <a:srgbClr val="000000"/>
                </a:solidFill>
                <a:latin typeface="Courier New" panose="02070309020205020404" pitchFamily="49" charset="0"/>
              </a:rPr>
              <a:t>&lt;</a:t>
            </a:r>
            <a:r>
              <a:rPr lang="en-US" altLang="zh-TW" sz="2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reg</a:t>
            </a:r>
            <a:r>
              <a:rPr lang="en-US" altLang="zh-TW" sz="2800" dirty="0">
                <a:solidFill>
                  <a:srgbClr val="000000"/>
                </a:solidFill>
                <a:latin typeface="Courier New" panose="02070309020205020404" pitchFamily="49" charset="0"/>
              </a:rPr>
              <a:t>&gt;,&lt;</a:t>
            </a:r>
            <a:r>
              <a:rPr lang="en-US" altLang="zh-TW" sz="2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reg</a:t>
            </a:r>
            <a:r>
              <a:rPr lang="en-US" altLang="zh-TW" sz="2800" dirty="0">
                <a:solidFill>
                  <a:srgbClr val="000000"/>
                </a:solidFill>
                <a:latin typeface="Courier New" panose="02070309020205020404" pitchFamily="49" charset="0"/>
              </a:rPr>
              <a:t>&gt;</a:t>
            </a:r>
            <a:r>
              <a:rPr lang="en-US" altLang="zh-TW" sz="2800" dirty="0"/>
              <a:t/>
            </a:r>
            <a:br>
              <a:rPr lang="en-US" altLang="zh-TW" sz="2800" dirty="0"/>
            </a:br>
            <a:r>
              <a:rPr lang="en-US" altLang="zh-TW" sz="2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mov</a:t>
            </a:r>
            <a:r>
              <a:rPr lang="en-US" altLang="zh-TW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&lt;</a:t>
            </a:r>
            <a:r>
              <a:rPr lang="en-US" altLang="zh-TW" sz="2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reg</a:t>
            </a:r>
            <a:r>
              <a:rPr lang="en-US" altLang="zh-TW" sz="2800" dirty="0">
                <a:solidFill>
                  <a:srgbClr val="000000"/>
                </a:solidFill>
                <a:latin typeface="Courier New" panose="02070309020205020404" pitchFamily="49" charset="0"/>
              </a:rPr>
              <a:t>&gt;,&lt;mem&gt;</a:t>
            </a:r>
            <a:r>
              <a:rPr lang="en-US" altLang="zh-TW" sz="2800" dirty="0"/>
              <a:t/>
            </a:r>
            <a:br>
              <a:rPr lang="en-US" altLang="zh-TW" sz="2800" dirty="0"/>
            </a:br>
            <a:r>
              <a:rPr lang="en-US" altLang="zh-TW" sz="2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mov</a:t>
            </a:r>
            <a:r>
              <a:rPr lang="en-US" altLang="zh-TW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&lt;mem&gt;,&lt;</a:t>
            </a:r>
            <a:r>
              <a:rPr lang="en-US" altLang="zh-TW" sz="2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reg</a:t>
            </a:r>
            <a:r>
              <a:rPr lang="en-US" altLang="zh-TW" sz="2800" dirty="0">
                <a:solidFill>
                  <a:srgbClr val="000000"/>
                </a:solidFill>
                <a:latin typeface="Courier New" panose="02070309020205020404" pitchFamily="49" charset="0"/>
              </a:rPr>
              <a:t>&gt;</a:t>
            </a:r>
            <a:r>
              <a:rPr lang="en-US" altLang="zh-TW" sz="2800" dirty="0"/>
              <a:t/>
            </a:r>
            <a:br>
              <a:rPr lang="en-US" altLang="zh-TW" sz="2800" dirty="0"/>
            </a:br>
            <a:r>
              <a:rPr lang="en-US" altLang="zh-TW" sz="2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mov</a:t>
            </a:r>
            <a:r>
              <a:rPr lang="en-US" altLang="zh-TW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&lt;</a:t>
            </a:r>
            <a:r>
              <a:rPr lang="en-US" altLang="zh-TW" sz="2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reg</a:t>
            </a:r>
            <a:r>
              <a:rPr lang="en-US" altLang="zh-TW" sz="2800" dirty="0">
                <a:solidFill>
                  <a:srgbClr val="000000"/>
                </a:solidFill>
                <a:latin typeface="Courier New" panose="02070309020205020404" pitchFamily="49" charset="0"/>
              </a:rPr>
              <a:t>&gt;,&lt;</a:t>
            </a:r>
            <a:r>
              <a:rPr lang="en-US" altLang="zh-TW" sz="2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const</a:t>
            </a:r>
            <a:r>
              <a:rPr lang="en-US" altLang="zh-TW" sz="2800" dirty="0">
                <a:solidFill>
                  <a:srgbClr val="000000"/>
                </a:solidFill>
                <a:latin typeface="Courier New" panose="02070309020205020404" pitchFamily="49" charset="0"/>
              </a:rPr>
              <a:t>&gt;</a:t>
            </a:r>
            <a:r>
              <a:rPr lang="en-US" altLang="zh-TW" sz="2800" dirty="0"/>
              <a:t/>
            </a:r>
            <a:br>
              <a:rPr lang="en-US" altLang="zh-TW" sz="2800" dirty="0"/>
            </a:br>
            <a:r>
              <a:rPr lang="en-US" altLang="zh-TW" sz="2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mov</a:t>
            </a:r>
            <a:r>
              <a:rPr lang="en-US" altLang="zh-TW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&lt;mem&gt;,&lt;</a:t>
            </a:r>
            <a:r>
              <a:rPr lang="en-US" altLang="zh-TW" sz="2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const</a:t>
            </a:r>
            <a:r>
              <a:rPr lang="en-US" altLang="zh-TW" sz="2800" dirty="0">
                <a:solidFill>
                  <a:srgbClr val="000000"/>
                </a:solidFill>
                <a:latin typeface="Courier New" panose="02070309020205020404" pitchFamily="49" charset="0"/>
              </a:rPr>
              <a:t>&gt;</a:t>
            </a:r>
            <a:endParaRPr lang="zh-TW" altLang="en-US" sz="2800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5012" y="1600200"/>
            <a:ext cx="5862182" cy="58218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MOV destination</a:t>
            </a:r>
            <a:r>
              <a:rPr kumimoji="0" lang="zh-TW" altLang="zh-TW" sz="32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zh-TW" altLang="zh-TW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source</a:t>
            </a:r>
            <a:r>
              <a:rPr kumimoji="0" lang="zh-TW" altLang="zh-TW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zh-TW" altLang="zh-TW" sz="6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071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 code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r>
              <a:rPr lang="en-US" altLang="zh-TW" dirty="0"/>
              <a:t>Assembly code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4: Add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1143000" y="2228671"/>
            <a:ext cx="366656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main(void){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TW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a, b, c;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c = a + b;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矩形 6"/>
          <p:cNvSpPr/>
          <p:nvPr/>
        </p:nvSpPr>
        <p:spPr>
          <a:xfrm>
            <a:off x="1143000" y="4507865"/>
            <a:ext cx="6498771" cy="181588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TW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DWORD PTR [esp+8]</a:t>
            </a:r>
          </a:p>
          <a:p>
            <a:r>
              <a:rPr lang="en-US" altLang="zh-TW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DWORD PTR [esp+12]</a:t>
            </a:r>
          </a:p>
          <a:p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TW" sz="28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edx</a:t>
            </a:r>
            <a:endParaRPr lang="en-US" altLang="zh-TW" sz="28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DWORD PTR [esp+4], </a:t>
            </a:r>
            <a:r>
              <a:rPr lang="en-US" altLang="zh-TW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zh-TW" altLang="en-US" sz="28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雲朵形 4"/>
          <p:cNvSpPr/>
          <p:nvPr/>
        </p:nvSpPr>
        <p:spPr>
          <a:xfrm>
            <a:off x="5020234" y="1600200"/>
            <a:ext cx="3666565" cy="2656048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err="1" smtClean="0"/>
              <a:t>eax</a:t>
            </a:r>
            <a:r>
              <a:rPr lang="en-US" altLang="zh-TW" sz="2800" dirty="0" smtClean="0"/>
              <a:t>, </a:t>
            </a:r>
            <a:r>
              <a:rPr lang="en-US" altLang="zh-TW" sz="2800" dirty="0" err="1" smtClean="0"/>
              <a:t>edx</a:t>
            </a:r>
            <a:r>
              <a:rPr lang="en-US" altLang="zh-TW" sz="2800" dirty="0" smtClean="0"/>
              <a:t> are registers in x86 CPU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58936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 add instruction adds together its two operands, storing the result in its </a:t>
            </a:r>
            <a:r>
              <a:rPr lang="en-US" altLang="zh-TW" dirty="0">
                <a:solidFill>
                  <a:srgbClr val="FF0000"/>
                </a:solidFill>
              </a:rPr>
              <a:t>first operand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Ex: </a:t>
            </a:r>
            <a:r>
              <a:rPr lang="en-US" altLang="zh-TW" dirty="0"/>
              <a:t>add BYTE PTR [</a:t>
            </a:r>
            <a:r>
              <a:rPr lang="en-US" altLang="zh-TW" dirty="0" err="1"/>
              <a:t>var</a:t>
            </a:r>
            <a:r>
              <a:rPr lang="en-US" altLang="zh-TW" dirty="0"/>
              <a:t>], </a:t>
            </a:r>
            <a:r>
              <a:rPr lang="en-US" altLang="zh-TW" dirty="0" smtClean="0"/>
              <a:t>10</a:t>
            </a:r>
          </a:p>
          <a:p>
            <a:pPr lvl="1"/>
            <a:r>
              <a:rPr lang="en-US" altLang="zh-TW" dirty="0"/>
              <a:t>add 10 to the single byte stored at memory address </a:t>
            </a:r>
            <a:r>
              <a:rPr lang="en-US" altLang="zh-TW" dirty="0" err="1"/>
              <a:t>var</a:t>
            </a:r>
            <a:r>
              <a:rPr lang="en-US" altLang="zh-TW" dirty="0"/>
              <a:t> </a:t>
            </a:r>
            <a:endParaRPr lang="en-US" altLang="zh-TW" dirty="0" smtClean="0"/>
          </a:p>
          <a:p>
            <a:r>
              <a:rPr lang="en-US" altLang="zh-TW" dirty="0" smtClean="0"/>
              <a:t>Ex: add </a:t>
            </a:r>
            <a:r>
              <a:rPr lang="en-US" altLang="zh-TW" dirty="0" err="1"/>
              <a:t>eax</a:t>
            </a:r>
            <a:r>
              <a:rPr lang="en-US" altLang="zh-TW" dirty="0"/>
              <a:t>, 10 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EAX </a:t>
            </a:r>
            <a:r>
              <a:rPr lang="en-US" altLang="zh-TW" dirty="0"/>
              <a:t>← EAX + </a:t>
            </a:r>
            <a:r>
              <a:rPr lang="en-US" altLang="zh-TW" dirty="0" smtClean="0"/>
              <a:t>10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ADD instruction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736592" y="3863181"/>
            <a:ext cx="4133088" cy="273921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3200" dirty="0"/>
              <a:t>Valid add syntax</a:t>
            </a:r>
          </a:p>
          <a:p>
            <a:r>
              <a:rPr lang="en-US" altLang="zh-TW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add </a:t>
            </a:r>
            <a:r>
              <a:rPr lang="en-US" altLang="zh-TW" sz="2800" dirty="0">
                <a:solidFill>
                  <a:srgbClr val="000000"/>
                </a:solidFill>
                <a:latin typeface="Courier New" panose="02070309020205020404" pitchFamily="49" charset="0"/>
              </a:rPr>
              <a:t>&lt;</a:t>
            </a:r>
            <a:r>
              <a:rPr lang="en-US" altLang="zh-TW" sz="2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reg</a:t>
            </a:r>
            <a:r>
              <a:rPr lang="en-US" altLang="zh-TW" sz="2800" dirty="0">
                <a:solidFill>
                  <a:srgbClr val="000000"/>
                </a:solidFill>
                <a:latin typeface="Courier New" panose="02070309020205020404" pitchFamily="49" charset="0"/>
              </a:rPr>
              <a:t>&gt;,&lt;</a:t>
            </a:r>
            <a:r>
              <a:rPr lang="en-US" altLang="zh-TW" sz="2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reg</a:t>
            </a:r>
            <a:r>
              <a:rPr lang="en-US" altLang="zh-TW" sz="2800" dirty="0">
                <a:solidFill>
                  <a:srgbClr val="000000"/>
                </a:solidFill>
                <a:latin typeface="Courier New" panose="02070309020205020404" pitchFamily="49" charset="0"/>
              </a:rPr>
              <a:t>&gt;</a:t>
            </a:r>
            <a:r>
              <a:rPr lang="en-US" altLang="zh-TW" sz="2800" dirty="0"/>
              <a:t/>
            </a:r>
            <a:br>
              <a:rPr lang="en-US" altLang="zh-TW" sz="2800" dirty="0"/>
            </a:br>
            <a:r>
              <a:rPr lang="en-US" altLang="zh-TW" sz="2800" dirty="0">
                <a:solidFill>
                  <a:srgbClr val="000000"/>
                </a:solidFill>
                <a:latin typeface="Courier New" panose="02070309020205020404" pitchFamily="49" charset="0"/>
              </a:rPr>
              <a:t>add &lt;</a:t>
            </a:r>
            <a:r>
              <a:rPr lang="en-US" altLang="zh-TW" sz="2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reg</a:t>
            </a:r>
            <a:r>
              <a:rPr lang="en-US" altLang="zh-TW" sz="2800" dirty="0">
                <a:solidFill>
                  <a:srgbClr val="000000"/>
                </a:solidFill>
                <a:latin typeface="Courier New" panose="02070309020205020404" pitchFamily="49" charset="0"/>
              </a:rPr>
              <a:t>&gt;,&lt;mem&gt;</a:t>
            </a:r>
            <a:r>
              <a:rPr lang="en-US" altLang="zh-TW" sz="2800" dirty="0"/>
              <a:t/>
            </a:r>
            <a:br>
              <a:rPr lang="en-US" altLang="zh-TW" sz="2800" dirty="0"/>
            </a:br>
            <a:r>
              <a:rPr lang="en-US" altLang="zh-TW" sz="2800" dirty="0">
                <a:solidFill>
                  <a:srgbClr val="000000"/>
                </a:solidFill>
                <a:latin typeface="Courier New" panose="02070309020205020404" pitchFamily="49" charset="0"/>
              </a:rPr>
              <a:t>add &lt;mem&gt;,&lt;</a:t>
            </a:r>
            <a:r>
              <a:rPr lang="en-US" altLang="zh-TW" sz="2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reg</a:t>
            </a:r>
            <a:r>
              <a:rPr lang="en-US" altLang="zh-TW" sz="2800" dirty="0">
                <a:solidFill>
                  <a:srgbClr val="000000"/>
                </a:solidFill>
                <a:latin typeface="Courier New" panose="02070309020205020404" pitchFamily="49" charset="0"/>
              </a:rPr>
              <a:t>&gt;</a:t>
            </a:r>
            <a:r>
              <a:rPr lang="en-US" altLang="zh-TW" sz="2800" dirty="0"/>
              <a:t/>
            </a:r>
            <a:br>
              <a:rPr lang="en-US" altLang="zh-TW" sz="2800" dirty="0"/>
            </a:br>
            <a:r>
              <a:rPr lang="en-US" altLang="zh-TW" sz="2800" dirty="0">
                <a:solidFill>
                  <a:srgbClr val="000000"/>
                </a:solidFill>
                <a:latin typeface="Courier New" panose="02070309020205020404" pitchFamily="49" charset="0"/>
              </a:rPr>
              <a:t>add &lt;</a:t>
            </a:r>
            <a:r>
              <a:rPr lang="en-US" altLang="zh-TW" sz="2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reg</a:t>
            </a:r>
            <a:r>
              <a:rPr lang="en-US" altLang="zh-TW" sz="2800" dirty="0">
                <a:solidFill>
                  <a:srgbClr val="000000"/>
                </a:solidFill>
                <a:latin typeface="Courier New" panose="02070309020205020404" pitchFamily="49" charset="0"/>
              </a:rPr>
              <a:t>&gt;,&lt;con&gt;</a:t>
            </a:r>
            <a:r>
              <a:rPr lang="en-US" altLang="zh-TW" sz="2800" dirty="0"/>
              <a:t/>
            </a:r>
            <a:br>
              <a:rPr lang="en-US" altLang="zh-TW" sz="2800" dirty="0"/>
            </a:br>
            <a:r>
              <a:rPr lang="en-US" altLang="zh-TW" sz="2800" dirty="0">
                <a:solidFill>
                  <a:srgbClr val="000000"/>
                </a:solidFill>
                <a:latin typeface="Courier New" panose="02070309020205020404" pitchFamily="49" charset="0"/>
              </a:rPr>
              <a:t>add &lt;mem&gt;,&lt;con&gt;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93052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 code</a:t>
            </a:r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r>
              <a:rPr lang="en-US" altLang="zh-TW" dirty="0"/>
              <a:t>Assembly 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code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5: If-else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2645229" y="1641277"/>
            <a:ext cx="3666565" cy="181588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main(void){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TW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a, b;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(a&gt;3) b++;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矩形 6"/>
          <p:cNvSpPr/>
          <p:nvPr/>
        </p:nvSpPr>
        <p:spPr>
          <a:xfrm>
            <a:off x="2645229" y="3680798"/>
            <a:ext cx="6498771" cy="224676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DWORD PTR [esp+12], 3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jle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L3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add	DWORD PTR [esp+8], 1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L3: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leave</a:t>
            </a:r>
            <a:endParaRPr lang="zh-TW" altLang="en-US" sz="28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687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600200"/>
            <a:ext cx="8485632" cy="4525963"/>
          </a:xfrm>
        </p:spPr>
        <p:txBody>
          <a:bodyPr>
            <a:normAutofit/>
          </a:bodyPr>
          <a:lstStyle/>
          <a:p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altLang="zh-TW" dirty="0" smtClean="0"/>
              <a:t> compares </a:t>
            </a:r>
            <a:r>
              <a:rPr lang="en-US" altLang="zh-TW" dirty="0"/>
              <a:t>the values of the two specified operands, setting the condition codes in the </a:t>
            </a:r>
            <a:r>
              <a:rPr lang="en-US" altLang="zh-TW" dirty="0">
                <a:solidFill>
                  <a:srgbClr val="FF0000"/>
                </a:solidFill>
              </a:rPr>
              <a:t>machine status </a:t>
            </a:r>
            <a:r>
              <a:rPr lang="en-US" altLang="zh-TW" dirty="0" smtClean="0">
                <a:solidFill>
                  <a:srgbClr val="FF0000"/>
                </a:solidFill>
              </a:rPr>
              <a:t>word</a:t>
            </a:r>
            <a:r>
              <a:rPr lang="en-US" altLang="zh-TW" dirty="0" smtClean="0"/>
              <a:t>.</a:t>
            </a:r>
            <a:r>
              <a:rPr lang="en-US" altLang="zh-TW" dirty="0"/>
              <a:t> 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Machine status word is another register in x86 CPU</a:t>
            </a:r>
          </a:p>
          <a:p>
            <a:r>
              <a:rPr lang="en-US" altLang="zh-TW" dirty="0" err="1">
                <a:solidFill>
                  <a:srgbClr val="000000"/>
                </a:solidFill>
                <a:latin typeface="Courier New" panose="02070309020205020404" pitchFamily="49" charset="0"/>
              </a:rPr>
              <a:t>jle</a:t>
            </a:r>
            <a:r>
              <a:rPr lang="en-US" altLang="zh-TW" dirty="0">
                <a:solidFill>
                  <a:srgbClr val="000000"/>
                </a:solidFill>
                <a:latin typeface="Courier New" panose="02070309020205020404" pitchFamily="49" charset="0"/>
              </a:rPr>
              <a:t> &lt;</a:t>
            </a:r>
            <a:r>
              <a:rPr lang="en-US" altLang="zh-TW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label&gt;</a:t>
            </a:r>
            <a:r>
              <a:rPr lang="zh-TW" altLang="en-US" dirty="0" smtClean="0"/>
              <a:t> </a:t>
            </a:r>
            <a:r>
              <a:rPr lang="en-US" altLang="zh-TW" dirty="0" smtClean="0"/>
              <a:t>jumps to the </a:t>
            </a:r>
            <a:r>
              <a:rPr lang="en-US" altLang="zh-TW" dirty="0" smtClean="0">
                <a:solidFill>
                  <a:srgbClr val="FF0000"/>
                </a:solidFill>
              </a:rPr>
              <a:t>label</a:t>
            </a:r>
            <a:r>
              <a:rPr lang="en-US" altLang="zh-TW" dirty="0" smtClean="0"/>
              <a:t> if the </a:t>
            </a:r>
            <a:r>
              <a:rPr lang="en-US" altLang="zh-TW" dirty="0" smtClean="0">
                <a:solidFill>
                  <a:srgbClr val="FF0000"/>
                </a:solidFill>
              </a:rPr>
              <a:t>machine </a:t>
            </a:r>
            <a:r>
              <a:rPr lang="en-US" altLang="zh-TW" dirty="0">
                <a:solidFill>
                  <a:srgbClr val="FF0000"/>
                </a:solidFill>
              </a:rPr>
              <a:t>status word</a:t>
            </a:r>
            <a:r>
              <a:rPr lang="en-US" altLang="zh-TW" dirty="0"/>
              <a:t> </a:t>
            </a:r>
            <a:r>
              <a:rPr lang="en-US" altLang="zh-TW" dirty="0" smtClean="0"/>
              <a:t>shows “less </a:t>
            </a:r>
            <a:r>
              <a:rPr lang="en-US" altLang="zh-TW" dirty="0"/>
              <a:t>than or equal to</a:t>
            </a:r>
            <a:r>
              <a:rPr lang="en-US" altLang="zh-TW" dirty="0" smtClean="0"/>
              <a:t>”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Cmp</a:t>
            </a:r>
            <a:r>
              <a:rPr lang="en-US" altLang="zh-TW" dirty="0" smtClean="0"/>
              <a:t> and </a:t>
            </a:r>
            <a:r>
              <a:rPr lang="en-US" altLang="zh-TW" dirty="0" err="1" smtClean="0"/>
              <a:t>jle</a:t>
            </a:r>
            <a:r>
              <a:rPr lang="en-US" altLang="zh-TW" dirty="0" smtClean="0"/>
              <a:t> instructions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82717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600200"/>
            <a:ext cx="8449056" cy="4928616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000000"/>
                </a:solidFill>
                <a:latin typeface="Courier New" panose="02070309020205020404" pitchFamily="49" charset="0"/>
              </a:rPr>
              <a:t>je &lt;label&gt;</a:t>
            </a:r>
            <a:r>
              <a:rPr lang="en-US" altLang="zh-TW" dirty="0">
                <a:solidFill>
                  <a:srgbClr val="000000"/>
                </a:solidFill>
                <a:latin typeface="Open Sans"/>
              </a:rPr>
              <a:t> (jump when equal</a:t>
            </a:r>
            <a:r>
              <a:rPr lang="en-US" altLang="zh-TW" dirty="0" smtClean="0">
                <a:solidFill>
                  <a:srgbClr val="000000"/>
                </a:solidFill>
                <a:latin typeface="Open Sans"/>
              </a:rPr>
              <a:t>)</a:t>
            </a:r>
            <a:endParaRPr lang="en-US" altLang="zh-TW" dirty="0" smtClean="0"/>
          </a:p>
          <a:p>
            <a:r>
              <a:rPr lang="en-US" altLang="zh-TW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jne</a:t>
            </a:r>
            <a:r>
              <a:rPr lang="en-US" altLang="zh-TW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ourier New" panose="02070309020205020404" pitchFamily="49" charset="0"/>
              </a:rPr>
              <a:t>&lt;label&gt;</a:t>
            </a:r>
            <a:r>
              <a:rPr lang="en-US" altLang="zh-TW" dirty="0">
                <a:solidFill>
                  <a:srgbClr val="000000"/>
                </a:solidFill>
                <a:latin typeface="Open Sans"/>
              </a:rPr>
              <a:t> (jump when not equal</a:t>
            </a:r>
            <a:r>
              <a:rPr lang="en-US" altLang="zh-TW" dirty="0" smtClean="0">
                <a:solidFill>
                  <a:srgbClr val="000000"/>
                </a:solidFill>
                <a:latin typeface="Open Sans"/>
              </a:rPr>
              <a:t>)</a:t>
            </a:r>
            <a:endParaRPr lang="en-US" altLang="zh-TW" dirty="0" smtClean="0"/>
          </a:p>
          <a:p>
            <a:r>
              <a:rPr lang="en-US" altLang="zh-TW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jz</a:t>
            </a:r>
            <a:r>
              <a:rPr lang="en-US" altLang="zh-TW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ourier New" panose="02070309020205020404" pitchFamily="49" charset="0"/>
              </a:rPr>
              <a:t>&lt;label&gt;</a:t>
            </a:r>
            <a:r>
              <a:rPr lang="en-US" altLang="zh-TW" dirty="0">
                <a:solidFill>
                  <a:srgbClr val="000000"/>
                </a:solidFill>
                <a:latin typeface="Open Sans"/>
              </a:rPr>
              <a:t> (jump when last result was zero</a:t>
            </a:r>
            <a:r>
              <a:rPr lang="en-US" altLang="zh-TW" dirty="0" smtClean="0">
                <a:solidFill>
                  <a:srgbClr val="000000"/>
                </a:solidFill>
                <a:latin typeface="Open Sans"/>
              </a:rPr>
              <a:t>)</a:t>
            </a:r>
            <a:endParaRPr lang="en-US" altLang="zh-TW" dirty="0" smtClean="0"/>
          </a:p>
          <a:p>
            <a:r>
              <a:rPr lang="en-US" altLang="zh-TW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jg</a:t>
            </a:r>
            <a:r>
              <a:rPr lang="en-US" altLang="zh-TW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ourier New" panose="02070309020205020404" pitchFamily="49" charset="0"/>
              </a:rPr>
              <a:t>&lt;label&gt;</a:t>
            </a:r>
            <a:r>
              <a:rPr lang="en-US" altLang="zh-TW" dirty="0">
                <a:solidFill>
                  <a:srgbClr val="000000"/>
                </a:solidFill>
                <a:latin typeface="Open Sans"/>
              </a:rPr>
              <a:t> (jump when greater </a:t>
            </a:r>
            <a:r>
              <a:rPr lang="en-US" altLang="zh-TW" dirty="0" smtClean="0">
                <a:solidFill>
                  <a:srgbClr val="000000"/>
                </a:solidFill>
                <a:latin typeface="Open Sans"/>
              </a:rPr>
              <a:t>than)</a:t>
            </a:r>
            <a:endParaRPr lang="en-US" altLang="zh-TW" dirty="0" smtClean="0"/>
          </a:p>
          <a:p>
            <a:r>
              <a:rPr lang="en-US" altLang="zh-TW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jge</a:t>
            </a:r>
            <a:r>
              <a:rPr lang="en-US" altLang="zh-TW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ourier New" panose="02070309020205020404" pitchFamily="49" charset="0"/>
              </a:rPr>
              <a:t>&lt;label&gt;</a:t>
            </a:r>
            <a:r>
              <a:rPr lang="en-US" altLang="zh-TW" dirty="0">
                <a:solidFill>
                  <a:srgbClr val="000000"/>
                </a:solidFill>
                <a:latin typeface="Open Sans"/>
              </a:rPr>
              <a:t> (jump when greater than or equal </a:t>
            </a:r>
            <a:r>
              <a:rPr lang="en-US" altLang="zh-TW" dirty="0" smtClean="0">
                <a:solidFill>
                  <a:srgbClr val="000000"/>
                </a:solidFill>
                <a:latin typeface="Open Sans"/>
              </a:rPr>
              <a:t>to)</a:t>
            </a:r>
            <a:endParaRPr lang="en-US" altLang="zh-TW" dirty="0" smtClean="0"/>
          </a:p>
          <a:p>
            <a:r>
              <a:rPr lang="en-US" altLang="zh-TW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jl</a:t>
            </a:r>
            <a:r>
              <a:rPr lang="en-US" altLang="zh-TW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ourier New" panose="02070309020205020404" pitchFamily="49" charset="0"/>
              </a:rPr>
              <a:t>&lt;label&gt;</a:t>
            </a:r>
            <a:r>
              <a:rPr lang="en-US" altLang="zh-TW" dirty="0">
                <a:solidFill>
                  <a:srgbClr val="000000"/>
                </a:solidFill>
                <a:latin typeface="Open Sans"/>
              </a:rPr>
              <a:t> (jump when less </a:t>
            </a:r>
            <a:r>
              <a:rPr lang="en-US" altLang="zh-TW" dirty="0" smtClean="0">
                <a:solidFill>
                  <a:srgbClr val="000000"/>
                </a:solidFill>
                <a:latin typeface="Open Sans"/>
              </a:rPr>
              <a:t>than)</a:t>
            </a:r>
            <a:endParaRPr lang="en-US" altLang="zh-TW" dirty="0" smtClean="0"/>
          </a:p>
          <a:p>
            <a:r>
              <a:rPr lang="en-US" altLang="zh-TW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jle</a:t>
            </a:r>
            <a:r>
              <a:rPr lang="en-US" altLang="zh-TW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ourier New" panose="02070309020205020404" pitchFamily="49" charset="0"/>
              </a:rPr>
              <a:t>&lt;label&gt;</a:t>
            </a:r>
            <a:r>
              <a:rPr lang="en-US" altLang="zh-TW" dirty="0">
                <a:solidFill>
                  <a:srgbClr val="000000"/>
                </a:solidFill>
                <a:latin typeface="Open Sans"/>
              </a:rPr>
              <a:t> (jump when less than or equal to</a:t>
            </a:r>
            <a:r>
              <a:rPr lang="en-US" altLang="zh-TW" dirty="0" smtClean="0">
                <a:solidFill>
                  <a:srgbClr val="000000"/>
                </a:solidFill>
                <a:latin typeface="Open Sans"/>
              </a:rPr>
              <a:t>)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 Conditional </a:t>
            </a:r>
            <a:r>
              <a:rPr lang="en-US" altLang="zh-TW" dirty="0" smtClean="0"/>
              <a:t>jump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89427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72000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The program (a list of instructions) is stored in memory.</a:t>
            </a:r>
          </a:p>
          <a:p>
            <a:r>
              <a:rPr lang="en-US" altLang="zh-TW" dirty="0" smtClean="0"/>
              <a:t>Which instruction to be executed is specified by a special register, called </a:t>
            </a:r>
            <a:r>
              <a:rPr lang="en-US" altLang="zh-TW" dirty="0" smtClean="0">
                <a:solidFill>
                  <a:srgbClr val="FF0000"/>
                </a:solidFill>
              </a:rPr>
              <a:t>instruction pointer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In some place, it is called “program counter”</a:t>
            </a:r>
            <a:r>
              <a:rPr lang="zh-TW" altLang="en-US" dirty="0" smtClean="0"/>
              <a:t> </a:t>
            </a:r>
            <a:r>
              <a:rPr lang="en-US" altLang="zh-TW" dirty="0" smtClean="0"/>
              <a:t>(PC).</a:t>
            </a:r>
          </a:p>
          <a:p>
            <a:r>
              <a:rPr lang="en-US" altLang="zh-TW" dirty="0" smtClean="0"/>
              <a:t>Normally, IP increases 4 bytes (an instruction).  But for jump &lt;label&gt;, it will become the address of the instruction </a:t>
            </a:r>
            <a:r>
              <a:rPr lang="en-US" altLang="zh-TW" dirty="0" smtClean="0">
                <a:solidFill>
                  <a:srgbClr val="FF0000"/>
                </a:solidFill>
              </a:rPr>
              <a:t>after </a:t>
            </a:r>
            <a:r>
              <a:rPr lang="en-US" altLang="zh-TW" dirty="0" smtClean="0"/>
              <a:t>the label.</a:t>
            </a:r>
          </a:p>
          <a:p>
            <a:r>
              <a:rPr lang="en-US" altLang="zh-TW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&lt;label&gt; </a:t>
            </a:r>
            <a:r>
              <a:rPr lang="en-US" altLang="zh-TW" dirty="0" smtClean="0">
                <a:solidFill>
                  <a:srgbClr val="FF0000"/>
                </a:solidFill>
              </a:rPr>
              <a:t>represents </a:t>
            </a:r>
            <a:r>
              <a:rPr lang="en-US" altLang="zh-TW" dirty="0">
                <a:solidFill>
                  <a:srgbClr val="FF0000"/>
                </a:solidFill>
              </a:rPr>
              <a:t>a memory </a:t>
            </a:r>
            <a:r>
              <a:rPr lang="en-US" altLang="zh-TW" dirty="0" smtClean="0">
                <a:solidFill>
                  <a:srgbClr val="FF0000"/>
                </a:solidFill>
              </a:rPr>
              <a:t>address.</a:t>
            </a:r>
            <a:endParaRPr lang="en-US" altLang="zh-TW" dirty="0">
              <a:solidFill>
                <a:srgbClr val="FF0000"/>
              </a:solidFill>
            </a:endParaRPr>
          </a:p>
          <a:p>
            <a:endParaRPr lang="en-US" altLang="zh-TW" dirty="0" smtClean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Instruction pointer (IP)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36640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 code</a:t>
            </a:r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r>
              <a:rPr lang="en-US" altLang="zh-TW" dirty="0"/>
              <a:t>Assembly 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code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6: while loop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2645229" y="1503968"/>
            <a:ext cx="5213297" cy="1815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main(void){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TW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b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while(a&lt;=3) b++;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矩形 6"/>
          <p:cNvSpPr/>
          <p:nvPr/>
        </p:nvSpPr>
        <p:spPr>
          <a:xfrm>
            <a:off x="2645229" y="3502412"/>
            <a:ext cx="6498771" cy="31085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jmp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L2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L3: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add	DWORD PTR [esp+12], 1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L2: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DWORD PTR [esp+8], 3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jle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L3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leave</a:t>
            </a:r>
            <a:endParaRPr lang="zh-TW" altLang="en-US" sz="28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900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jmp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&lt;label&gt; </a:t>
            </a:r>
            <a:r>
              <a:rPr lang="en-US" altLang="zh-TW" dirty="0"/>
              <a:t>t</a:t>
            </a:r>
            <a:r>
              <a:rPr lang="en-US" altLang="zh-TW" dirty="0" smtClean="0"/>
              <a:t>ransfers </a:t>
            </a:r>
            <a:r>
              <a:rPr lang="en-US" altLang="zh-TW" dirty="0"/>
              <a:t>program control flow to the instruction at the memory location indicated by the </a:t>
            </a:r>
            <a:r>
              <a:rPr lang="en-US" altLang="zh-TW" dirty="0" smtClean="0"/>
              <a:t>operand (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&lt;label</a:t>
            </a:r>
            <a:r>
              <a:rPr lang="en-US" altLang="zh-TW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zh-TW" dirty="0" smtClean="0"/>
              <a:t>).</a:t>
            </a:r>
          </a:p>
          <a:p>
            <a:r>
              <a:rPr lang="en-US" altLang="zh-TW" dirty="0" smtClean="0"/>
              <a:t>Instruction </a:t>
            </a:r>
            <a:r>
              <a:rPr lang="en-US" altLang="zh-TW" dirty="0" err="1" smtClean="0"/>
              <a:t>jmp</a:t>
            </a:r>
            <a:r>
              <a:rPr lang="en-US" altLang="zh-TW" dirty="0" smtClean="0"/>
              <a:t> is called “unconditional jump”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jmp</a:t>
            </a:r>
            <a:r>
              <a:rPr lang="en-US" altLang="zh-TW" dirty="0" smtClean="0"/>
              <a:t> instruction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2716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implementation is not unique.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Different </a:t>
            </a:r>
            <a:r>
              <a:rPr lang="en-US" altLang="zh-TW" dirty="0"/>
              <a:t>implementation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1317" y="2224163"/>
            <a:ext cx="5213297" cy="1815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main(void){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TW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b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while(a&lt;=3) b++;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2412146" y="3647942"/>
            <a:ext cx="6498771" cy="31085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L3: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DWORD PTR [esp+8], 3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jg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L2</a:t>
            </a:r>
            <a:endParaRPr lang="en-US" altLang="zh-TW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add	DWORD PTR [esp+12], </a:t>
            </a:r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TW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jmp</a:t>
            </a:r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L3</a:t>
            </a:r>
            <a:endParaRPr lang="en-US" altLang="zh-TW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L2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leave</a:t>
            </a:r>
            <a:endParaRPr lang="zh-TW" altLang="en-US" sz="28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76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GCC Inline Assembly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7139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Sometime we need to combine C and assembly code</a:t>
            </a:r>
          </a:p>
          <a:p>
            <a:pPr lvl="1"/>
            <a:r>
              <a:rPr lang="en-US" altLang="zh-TW" dirty="0" smtClean="0"/>
              <a:t>To improve the performance</a:t>
            </a:r>
          </a:p>
          <a:p>
            <a:pPr lvl="1"/>
            <a:r>
              <a:rPr lang="en-US" altLang="zh-TW" dirty="0" smtClean="0"/>
              <a:t>To write the code for low level device drivers</a:t>
            </a:r>
          </a:p>
          <a:p>
            <a:r>
              <a:rPr lang="en-US" altLang="zh-TW" dirty="0" smtClean="0"/>
              <a:t>How to combine C and assembly is compiler dependent, not a standard.</a:t>
            </a:r>
          </a:p>
          <a:p>
            <a:pPr lvl="1"/>
            <a:r>
              <a:rPr lang="en-US" altLang="zh-TW" dirty="0" smtClean="0"/>
              <a:t>We will use </a:t>
            </a:r>
            <a:r>
              <a:rPr lang="en-US" altLang="zh-TW" dirty="0" err="1" smtClean="0"/>
              <a:t>gcc’s</a:t>
            </a:r>
            <a:r>
              <a:rPr lang="en-US" altLang="zh-TW" dirty="0" smtClean="0"/>
              <a:t> inline assembly to </a:t>
            </a:r>
            <a:r>
              <a:rPr lang="en-US" altLang="zh-TW" smtClean="0"/>
              <a:t>introduce the idea.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Combine C and assembly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</p:spPr>
        <p:txBody>
          <a:bodyPr/>
          <a:lstStyle/>
          <a:p>
            <a:fld id="{CFE4BAC9-6D41-4691-9299-18EF07EF017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784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Basic structure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Basic structure of inline assembly</a:t>
            </a:r>
            <a:endParaRPr lang="zh-TW" alt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28214" y="2351432"/>
            <a:ext cx="728757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2400" b="0" i="0" u="none" strike="noStrike" cap="none" normalizeH="0" baseline="0" dirty="0" smtClean="0">
                <a:ln>
                  <a:noFill/>
                </a:ln>
                <a:solidFill>
                  <a:srgbClr val="4E4F43"/>
                </a:solidFill>
                <a:effectLst/>
                <a:latin typeface="Courier New" panose="02070309020205020404" pitchFamily="49" charset="0"/>
                <a:ea typeface="Andale Mono"/>
                <a:cs typeface="Courier New" panose="02070309020205020404" pitchFamily="49" charset="0"/>
              </a:rPr>
              <a:t>asm(  </a:t>
            </a:r>
            <a:endParaRPr kumimoji="0" lang="en-US" altLang="zh-TW" sz="2400" b="0" i="0" u="none" strike="noStrike" cap="none" normalizeH="0" baseline="0" dirty="0" smtClean="0">
              <a:ln>
                <a:noFill/>
              </a:ln>
              <a:solidFill>
                <a:srgbClr val="4E4F43"/>
              </a:solidFill>
              <a:effectLst/>
              <a:latin typeface="Courier New" panose="02070309020205020404" pitchFamily="49" charset="0"/>
              <a:ea typeface="Andale Mono"/>
              <a:cs typeface="Courier New" panose="02070309020205020404" pitchFamily="49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TW" altLang="zh-TW" sz="2400" b="0" i="0" u="none" strike="noStrike" cap="none" normalizeH="0" baseline="0" dirty="0" smtClean="0">
                <a:ln>
                  <a:noFill/>
                </a:ln>
                <a:solidFill>
                  <a:srgbClr val="4E4F43"/>
                </a:solidFill>
                <a:effectLst/>
                <a:latin typeface="Courier New" panose="02070309020205020404" pitchFamily="49" charset="0"/>
                <a:ea typeface="Andale Mono"/>
                <a:cs typeface="Courier New" panose="02070309020205020404" pitchFamily="49" charset="0"/>
              </a:rPr>
              <a:t>assembler template</a:t>
            </a:r>
            <a:r>
              <a:rPr lang="en-US" altLang="zh-TW" sz="2400" dirty="0">
                <a:solidFill>
                  <a:srgbClr val="4E4F43"/>
                </a:solidFill>
                <a:latin typeface="Courier New" panose="02070309020205020404" pitchFamily="49" charset="0"/>
                <a:ea typeface="Andale Mono"/>
                <a:cs typeface="Courier New" panose="02070309020205020404" pitchFamily="49" charset="0"/>
              </a:rPr>
              <a:t>  </a:t>
            </a:r>
            <a:r>
              <a:rPr lang="en-US" altLang="zh-TW" sz="2400" dirty="0" smtClean="0">
                <a:solidFill>
                  <a:srgbClr val="4E4F43"/>
                </a:solidFill>
                <a:latin typeface="Courier New" panose="02070309020205020404" pitchFamily="49" charset="0"/>
                <a:ea typeface="Andale Mono"/>
                <a:cs typeface="Courier New" panose="02070309020205020404" pitchFamily="49" charset="0"/>
              </a:rPr>
              <a:t>// </a:t>
            </a:r>
            <a:r>
              <a:rPr lang="zh-TW" altLang="en-US" sz="2400" dirty="0" smtClean="0">
                <a:solidFill>
                  <a:srgbClr val="4E4F43"/>
                </a:solidFill>
                <a:latin typeface="Courier New" panose="02070309020205020404" pitchFamily="49" charset="0"/>
                <a:ea typeface="Andale Mono"/>
                <a:cs typeface="Courier New" panose="02070309020205020404" pitchFamily="49" charset="0"/>
              </a:rPr>
              <a:t>組合語言</a:t>
            </a:r>
            <a:r>
              <a:rPr lang="zh-TW" altLang="en-US" sz="2400" dirty="0">
                <a:solidFill>
                  <a:srgbClr val="4E4F43"/>
                </a:solidFill>
                <a:latin typeface="Courier New" panose="02070309020205020404" pitchFamily="49" charset="0"/>
                <a:ea typeface="Andale Mono"/>
                <a:cs typeface="Courier New" panose="02070309020205020404" pitchFamily="49" charset="0"/>
              </a:rPr>
              <a:t>程式</a:t>
            </a:r>
            <a:endParaRPr kumimoji="0" lang="en-US" altLang="zh-TW" sz="2400" b="0" i="0" u="none" strike="noStrike" cap="none" normalizeH="0" baseline="0" dirty="0" smtClean="0">
              <a:ln>
                <a:noFill/>
              </a:ln>
              <a:solidFill>
                <a:srgbClr val="4E4F43"/>
              </a:solidFill>
              <a:effectLst/>
              <a:latin typeface="Courier New" panose="02070309020205020404" pitchFamily="49" charset="0"/>
              <a:ea typeface="Andale Mono"/>
              <a:cs typeface="Courier New" panose="02070309020205020404" pitchFamily="49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TW" altLang="zh-TW" sz="2400" b="0" i="0" u="none" strike="noStrike" cap="none" normalizeH="0" baseline="0" dirty="0" smtClean="0">
                <a:ln>
                  <a:noFill/>
                </a:ln>
                <a:solidFill>
                  <a:srgbClr val="4E4F43"/>
                </a:solidFill>
                <a:effectLst/>
                <a:latin typeface="Courier New" panose="02070309020205020404" pitchFamily="49" charset="0"/>
                <a:ea typeface="Andale Mono"/>
                <a:cs typeface="Courier New" panose="02070309020205020404" pitchFamily="49" charset="0"/>
              </a:rPr>
              <a:t>: output operands </a:t>
            </a:r>
            <a:r>
              <a:rPr kumimoji="0" lang="en-US" altLang="zh-TW" sz="2400" b="0" i="0" u="none" strike="noStrike" cap="none" normalizeH="0" baseline="0" dirty="0" smtClean="0">
                <a:ln>
                  <a:noFill/>
                </a:ln>
                <a:solidFill>
                  <a:srgbClr val="4E4F43"/>
                </a:solidFill>
                <a:effectLst/>
                <a:latin typeface="Courier New" panose="02070309020205020404" pitchFamily="49" charset="0"/>
                <a:ea typeface="Andale Mono"/>
                <a:cs typeface="Courier New" panose="02070309020205020404" pitchFamily="49" charset="0"/>
              </a:rPr>
              <a:t>  //</a:t>
            </a:r>
            <a:r>
              <a:rPr kumimoji="0" lang="zh-TW" altLang="zh-TW" sz="2400" b="0" i="0" u="none" strike="noStrike" cap="none" normalizeH="0" baseline="0" dirty="0" smtClean="0">
                <a:ln>
                  <a:noFill/>
                </a:ln>
                <a:solidFill>
                  <a:srgbClr val="4E4F43"/>
                </a:solidFill>
                <a:effectLst/>
                <a:latin typeface="Courier New" panose="02070309020205020404" pitchFamily="49" charset="0"/>
                <a:ea typeface="Andale Mono"/>
                <a:cs typeface="Courier New" panose="02070309020205020404" pitchFamily="49" charset="0"/>
              </a:rPr>
              <a:t> 輸出參數列表 </a:t>
            </a:r>
            <a:endParaRPr kumimoji="0" lang="en-US" altLang="zh-TW" sz="2400" b="0" i="0" u="none" strike="noStrike" cap="none" normalizeH="0" baseline="0" dirty="0" smtClean="0">
              <a:ln>
                <a:noFill/>
              </a:ln>
              <a:solidFill>
                <a:srgbClr val="4E4F43"/>
              </a:solidFill>
              <a:effectLst/>
              <a:latin typeface="Courier New" panose="02070309020205020404" pitchFamily="49" charset="0"/>
              <a:ea typeface="Andale Mono"/>
              <a:cs typeface="Courier New" panose="02070309020205020404" pitchFamily="49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TW" altLang="zh-TW" sz="2400" b="0" i="0" u="none" strike="noStrike" cap="none" normalizeH="0" baseline="0" dirty="0" smtClean="0">
                <a:ln>
                  <a:noFill/>
                </a:ln>
                <a:solidFill>
                  <a:srgbClr val="4E4F43"/>
                </a:solidFill>
                <a:effectLst/>
                <a:latin typeface="Courier New" panose="02070309020205020404" pitchFamily="49" charset="0"/>
                <a:ea typeface="Andale Mono"/>
                <a:cs typeface="Courier New" panose="02070309020205020404" pitchFamily="49" charset="0"/>
              </a:rPr>
              <a:t>: input operands </a:t>
            </a:r>
            <a:r>
              <a:rPr kumimoji="0" lang="en-US" altLang="zh-TW" sz="2400" b="0" i="0" u="none" strike="noStrike" cap="none" normalizeH="0" baseline="0" dirty="0" smtClean="0">
                <a:ln>
                  <a:noFill/>
                </a:ln>
                <a:solidFill>
                  <a:srgbClr val="4E4F43"/>
                </a:solidFill>
                <a:effectLst/>
                <a:latin typeface="Courier New" panose="02070309020205020404" pitchFamily="49" charset="0"/>
                <a:ea typeface="Andale Mono"/>
                <a:cs typeface="Courier New" panose="02070309020205020404" pitchFamily="49" charset="0"/>
              </a:rPr>
              <a:t>   // </a:t>
            </a:r>
            <a:r>
              <a:rPr kumimoji="0" lang="zh-TW" altLang="zh-TW" sz="2400" b="0" i="0" u="none" strike="noStrike" cap="none" normalizeH="0" baseline="0" dirty="0" smtClean="0">
                <a:ln>
                  <a:noFill/>
                </a:ln>
                <a:solidFill>
                  <a:srgbClr val="4E4F43"/>
                </a:solidFill>
                <a:effectLst/>
                <a:latin typeface="Courier New" panose="02070309020205020404" pitchFamily="49" charset="0"/>
                <a:ea typeface="Andale Mono"/>
                <a:cs typeface="Courier New" panose="02070309020205020404" pitchFamily="49" charset="0"/>
              </a:rPr>
              <a:t>輸入參數列表 </a:t>
            </a:r>
            <a:endParaRPr lang="en-US" altLang="zh-TW" sz="2400" dirty="0">
              <a:solidFill>
                <a:srgbClr val="4E4F43"/>
              </a:solidFill>
              <a:latin typeface="Courier New" panose="02070309020205020404" pitchFamily="49" charset="0"/>
              <a:ea typeface="Andale Mono"/>
              <a:cs typeface="Courier New" panose="02070309020205020404" pitchFamily="49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TW" altLang="zh-TW" sz="2400" b="0" i="0" u="none" strike="noStrike" cap="none" normalizeH="0" baseline="0" dirty="0" smtClean="0">
                <a:ln>
                  <a:noFill/>
                </a:ln>
                <a:solidFill>
                  <a:srgbClr val="4E4F43"/>
                </a:solidFill>
                <a:effectLst/>
                <a:latin typeface="Courier New" panose="02070309020205020404" pitchFamily="49" charset="0"/>
                <a:ea typeface="Andale Mono"/>
                <a:cs typeface="Courier New" panose="02070309020205020404" pitchFamily="49" charset="0"/>
              </a:rPr>
              <a:t>: list of clobbered registers </a:t>
            </a:r>
            <a:endParaRPr kumimoji="0" lang="en-US" altLang="zh-TW" sz="2400" b="0" i="0" u="none" strike="noStrike" cap="none" normalizeH="0" baseline="0" dirty="0" smtClean="0">
              <a:ln>
                <a:noFill/>
              </a:ln>
              <a:solidFill>
                <a:srgbClr val="4E4F43"/>
              </a:solidFill>
              <a:effectLst/>
              <a:latin typeface="Courier New" panose="02070309020205020404" pitchFamily="49" charset="0"/>
              <a:ea typeface="Andale Mono"/>
              <a:cs typeface="Courier New" panose="02070309020205020404" pitchFamily="49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400" dirty="0">
                <a:solidFill>
                  <a:srgbClr val="4E4F43"/>
                </a:solidFill>
                <a:latin typeface="Courier New" panose="02070309020205020404" pitchFamily="49" charset="0"/>
                <a:ea typeface="Andale Mono"/>
                <a:cs typeface="Courier New" panose="02070309020205020404" pitchFamily="49" charset="0"/>
              </a:rPr>
              <a:t> </a:t>
            </a:r>
            <a:r>
              <a:rPr lang="en-US" altLang="zh-TW" sz="2400" dirty="0" smtClean="0">
                <a:solidFill>
                  <a:srgbClr val="4E4F43"/>
                </a:solidFill>
                <a:latin typeface="Courier New" panose="02070309020205020404" pitchFamily="49" charset="0"/>
                <a:ea typeface="Andale Mono"/>
                <a:cs typeface="Courier New" panose="02070309020205020404" pitchFamily="49" charset="0"/>
              </a:rPr>
              <a:t>                //</a:t>
            </a:r>
            <a:r>
              <a:rPr kumimoji="0" lang="zh-TW" altLang="zh-TW" sz="2400" b="0" i="0" u="none" strike="noStrike" cap="none" normalizeH="0" baseline="0" dirty="0" smtClean="0">
                <a:ln>
                  <a:noFill/>
                </a:ln>
                <a:solidFill>
                  <a:srgbClr val="4E4F43"/>
                </a:solidFill>
                <a:effectLst/>
                <a:latin typeface="Courier New" panose="02070309020205020404" pitchFamily="49" charset="0"/>
                <a:ea typeface="Andale Mono"/>
                <a:cs typeface="Courier New" panose="02070309020205020404" pitchFamily="49" charset="0"/>
              </a:rPr>
              <a:t>被更改的暫存器列表 </a:t>
            </a:r>
            <a:endParaRPr lang="en-US" altLang="zh-TW" sz="2400" dirty="0" smtClean="0">
              <a:solidFill>
                <a:srgbClr val="4E4F43"/>
              </a:solidFill>
              <a:latin typeface="Courier New" panose="02070309020205020404" pitchFamily="49" charset="0"/>
              <a:ea typeface="Andale Mono"/>
              <a:cs typeface="Courier New" panose="02070309020205020404" pitchFamily="49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TW" altLang="zh-TW" sz="2400" b="0" i="0" u="none" strike="noStrike" cap="none" normalizeH="0" baseline="0" dirty="0" smtClean="0">
                <a:ln>
                  <a:noFill/>
                </a:ln>
                <a:solidFill>
                  <a:srgbClr val="4E4F43"/>
                </a:solidFill>
                <a:effectLst/>
                <a:latin typeface="Courier New" panose="02070309020205020404" pitchFamily="49" charset="0"/>
                <a:ea typeface="Andale Mono"/>
                <a:cs typeface="Courier New" panose="02070309020205020404" pitchFamily="49" charset="0"/>
              </a:rPr>
              <a:t>); </a:t>
            </a:r>
            <a:r>
              <a:rPr lang="en-US" altLang="zh-TW" sz="2400" dirty="0">
                <a:solidFill>
                  <a:srgbClr val="4E4F43"/>
                </a:solidFill>
                <a:latin typeface="Courier New" panose="02070309020205020404" pitchFamily="49" charset="0"/>
                <a:ea typeface="Andale Mono"/>
                <a:cs typeface="Courier New" panose="02070309020205020404" pitchFamily="49" charset="0"/>
              </a:rPr>
              <a:t> </a:t>
            </a:r>
            <a:endParaRPr kumimoji="0" lang="zh-TW" altLang="zh-TW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584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7: inline assembly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571500" y="1785689"/>
            <a:ext cx="555171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&lt;stdio.h</a:t>
            </a:r>
            <a:r>
              <a:rPr lang="zh-TW" alt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zh-TW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TW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main(void</a:t>
            </a:r>
            <a:r>
              <a:rPr lang="zh-TW" alt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endParaRPr lang="zh-TW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TW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int foo = 10, bar = 15</a:t>
            </a:r>
            <a:r>
              <a:rPr lang="zh-TW" alt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zh-TW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TW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zh-TW" alt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asm(</a:t>
            </a:r>
          </a:p>
          <a:p>
            <a:r>
              <a:rPr lang="zh-TW" alt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"add %%ebx,%%eax"</a:t>
            </a:r>
          </a:p>
          <a:p>
            <a:r>
              <a:rPr lang="zh-TW" alt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:"=a"(foo)</a:t>
            </a:r>
          </a:p>
          <a:p>
            <a:r>
              <a:rPr lang="zh-TW" alt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:"a"(foo), "b"(bar)</a:t>
            </a:r>
          </a:p>
          <a:p>
            <a:r>
              <a:rPr lang="zh-TW" alt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)</a:t>
            </a:r>
            <a:r>
              <a:rPr lang="zh-TW" altLang="en-US" sz="24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zh-TW" altLang="en-US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TW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printf("foo=%d\n", foo);</a:t>
            </a:r>
          </a:p>
          <a:p>
            <a:r>
              <a:rPr lang="zh-TW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r>
              <a:rPr lang="zh-TW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矩形圖說文字 5"/>
          <p:cNvSpPr/>
          <p:nvPr/>
        </p:nvSpPr>
        <p:spPr>
          <a:xfrm>
            <a:off x="5682342" y="1785690"/>
            <a:ext cx="3331029" cy="630940"/>
          </a:xfrm>
          <a:prstGeom prst="wedgeRectCallout">
            <a:avLst>
              <a:gd name="adj1" fmla="val -83578"/>
              <a:gd name="adj2" fmla="val 19953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zh-TW" altLang="zh-TW" sz="2800" dirty="0"/>
              <a:t>assembler template</a:t>
            </a:r>
            <a:endParaRPr lang="zh-TW" altLang="en-US" sz="2800" dirty="0"/>
          </a:p>
        </p:txBody>
      </p:sp>
      <p:sp>
        <p:nvSpPr>
          <p:cNvPr id="7" name="矩形圖說文字 6"/>
          <p:cNvSpPr/>
          <p:nvPr/>
        </p:nvSpPr>
        <p:spPr>
          <a:xfrm>
            <a:off x="5557156" y="3232241"/>
            <a:ext cx="3331029" cy="630940"/>
          </a:xfrm>
          <a:prstGeom prst="wedgeRectCallout">
            <a:avLst>
              <a:gd name="adj1" fmla="val -89950"/>
              <a:gd name="adj2" fmla="val 3908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en-US" altLang="zh-TW" sz="2800" dirty="0"/>
              <a:t>output operands </a:t>
            </a:r>
            <a:endParaRPr lang="zh-TW" altLang="en-US" sz="2800" dirty="0"/>
          </a:p>
        </p:txBody>
      </p:sp>
      <p:sp>
        <p:nvSpPr>
          <p:cNvPr id="9" name="矩形圖說文字 8"/>
          <p:cNvSpPr/>
          <p:nvPr/>
        </p:nvSpPr>
        <p:spPr>
          <a:xfrm>
            <a:off x="5682341" y="4270987"/>
            <a:ext cx="3331029" cy="630940"/>
          </a:xfrm>
          <a:prstGeom prst="wedgeRectCallout">
            <a:avLst>
              <a:gd name="adj1" fmla="val -75734"/>
              <a:gd name="adj2" fmla="val -4632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en-US" altLang="zh-TW" sz="2800" dirty="0" smtClean="0"/>
              <a:t>input </a:t>
            </a:r>
            <a:r>
              <a:rPr lang="en-US" altLang="zh-TW" sz="2800" dirty="0"/>
              <a:t>operands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19734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Advanced syntaxes in assembly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122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 code</a:t>
            </a:r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Assembly </a:t>
            </a:r>
            <a:r>
              <a:rPr lang="en-US" altLang="zh-TW" dirty="0" smtClean="0"/>
              <a:t>code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8: pointer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2645229" y="1583444"/>
            <a:ext cx="5213297" cy="22467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main(void){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a;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*pa;</a:t>
            </a:r>
            <a:endParaRPr lang="en-US" altLang="zh-TW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pa = &amp;a;</a:t>
            </a:r>
            <a:endParaRPr lang="en-US" altLang="zh-TW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905171" y="4707971"/>
            <a:ext cx="7333658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lea</a:t>
            </a:r>
            <a:r>
              <a:rPr lang="en-US" altLang="zh-TW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altLang="zh-TW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[esp+8]</a:t>
            </a:r>
          </a:p>
          <a:p>
            <a:r>
              <a:rPr lang="en-US" altLang="zh-TW" sz="28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altLang="zh-TW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DWORD PTR [esp+12], </a:t>
            </a:r>
            <a:r>
              <a:rPr lang="en-US" altLang="zh-TW" sz="28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altLang="zh-TW" sz="28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76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The </a:t>
            </a:r>
            <a:r>
              <a:rPr lang="en-US" altLang="zh-TW" dirty="0"/>
              <a:t>lea </a:t>
            </a:r>
            <a:r>
              <a:rPr lang="en-US" altLang="zh-TW" dirty="0" smtClean="0"/>
              <a:t>(</a:t>
            </a:r>
            <a:r>
              <a:rPr lang="en-US" altLang="zh-TW" dirty="0"/>
              <a:t>Load effective address</a:t>
            </a:r>
            <a:r>
              <a:rPr lang="en-US" altLang="zh-TW" dirty="0" smtClean="0"/>
              <a:t>) instruction </a:t>
            </a:r>
            <a:r>
              <a:rPr lang="en-US" altLang="zh-TW" dirty="0"/>
              <a:t>places the </a:t>
            </a:r>
            <a:r>
              <a:rPr lang="en-US" altLang="zh-TW" dirty="0">
                <a:solidFill>
                  <a:srgbClr val="FF0000"/>
                </a:solidFill>
              </a:rPr>
              <a:t>address</a:t>
            </a:r>
            <a:r>
              <a:rPr lang="en-US" altLang="zh-TW" dirty="0"/>
              <a:t> specified by its </a:t>
            </a:r>
            <a:r>
              <a:rPr lang="en-US" altLang="zh-TW" dirty="0">
                <a:solidFill>
                  <a:srgbClr val="FF0000"/>
                </a:solidFill>
              </a:rPr>
              <a:t>second </a:t>
            </a:r>
            <a:r>
              <a:rPr lang="en-US" altLang="zh-TW" dirty="0"/>
              <a:t>operand into the register specified by its </a:t>
            </a:r>
            <a:r>
              <a:rPr lang="en-US" altLang="zh-TW" dirty="0">
                <a:solidFill>
                  <a:srgbClr val="FF0000"/>
                </a:solidFill>
              </a:rPr>
              <a:t>first</a:t>
            </a:r>
            <a:r>
              <a:rPr lang="en-US" altLang="zh-TW" dirty="0"/>
              <a:t> operand.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Note</a:t>
            </a:r>
            <a:r>
              <a:rPr lang="en-US" altLang="zh-TW" dirty="0"/>
              <a:t>, the contents of the memory location are not loaded, only the effective address is computed and placed into the register.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This </a:t>
            </a:r>
            <a:r>
              <a:rPr lang="en-US" altLang="zh-TW" dirty="0"/>
              <a:t>is useful for obtaining a pointer into a memory region.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lea instruction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8589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 code</a:t>
            </a:r>
          </a:p>
          <a:p>
            <a:pPr lvl="2"/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	</a:t>
            </a:r>
            <a:endParaRPr lang="en-US" altLang="zh-TW" dirty="0"/>
          </a:p>
          <a:p>
            <a:pPr lvl="2"/>
            <a:endParaRPr lang="en-US" altLang="zh-TW" dirty="0" smtClean="0"/>
          </a:p>
          <a:p>
            <a:r>
              <a:rPr lang="en-US" altLang="zh-TW" dirty="0" smtClean="0"/>
              <a:t>Assembly code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9: pointer 2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2645229" y="1583444"/>
            <a:ext cx="5213297" cy="26776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main(void</a:t>
            </a:r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a;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*pa;</a:t>
            </a:r>
            <a:endParaRPr lang="en-US" altLang="zh-TW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pa = &amp;a;</a:t>
            </a: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*pa = 3;</a:t>
            </a:r>
            <a:endParaRPr lang="en-US" altLang="zh-TW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905171" y="4830953"/>
            <a:ext cx="7333658" cy="1815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28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lea</a:t>
            </a:r>
            <a:r>
              <a:rPr lang="en-US" altLang="zh-TW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altLang="zh-TW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[esp+8]</a:t>
            </a:r>
          </a:p>
          <a:p>
            <a:r>
              <a:rPr lang="en-US" altLang="zh-TW" sz="28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altLang="zh-TW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DWORD PTR [esp+12], </a:t>
            </a:r>
            <a:r>
              <a:rPr lang="en-US" altLang="zh-TW" sz="28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altLang="zh-TW" sz="2800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800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altLang="zh-TW" sz="2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altLang="zh-TW" sz="2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DWORD PTR [esp+12]</a:t>
            </a:r>
          </a:p>
          <a:p>
            <a:r>
              <a:rPr lang="en-US" altLang="zh-TW" sz="2800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altLang="zh-TW" sz="2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DWORD PTR [</a:t>
            </a:r>
            <a:r>
              <a:rPr lang="en-US" altLang="zh-TW" sz="28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altLang="zh-TW" sz="2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altLang="zh-TW" sz="28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altLang="zh-TW" sz="28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764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09184" y="3888232"/>
            <a:ext cx="1739153" cy="6992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4213666" y="4573519"/>
            <a:ext cx="1739153" cy="6992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4213666" y="5281738"/>
            <a:ext cx="1739153" cy="6992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4213666" y="3146916"/>
            <a:ext cx="1739153" cy="6992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6062061" y="3231662"/>
            <a:ext cx="9140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[</a:t>
            </a:r>
            <a:r>
              <a:rPr lang="en-US" altLang="zh-TW" sz="2800" dirty="0" err="1" smtClean="0"/>
              <a:t>esp</a:t>
            </a:r>
            <a:r>
              <a:rPr lang="en-US" altLang="zh-TW" sz="2800" dirty="0" smtClean="0"/>
              <a:t>]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6042651" y="3972978"/>
            <a:ext cx="1459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[esp+04]</a:t>
            </a:r>
            <a:endParaRPr lang="zh-TW" altLang="en-US" sz="28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6070965" y="4678760"/>
            <a:ext cx="20120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[esp+08]  (a)</a:t>
            </a:r>
            <a:endParaRPr lang="zh-TW" altLang="en-US" sz="28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6055548" y="5410629"/>
            <a:ext cx="22012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[esp+12]  (pa)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32548" y="3149552"/>
            <a:ext cx="2277036" cy="71717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肘形接點 15"/>
          <p:cNvCxnSpPr>
            <a:stCxn id="21" idx="3"/>
            <a:endCxn id="5" idx="1"/>
          </p:cNvCxnSpPr>
          <p:nvPr/>
        </p:nvCxnSpPr>
        <p:spPr>
          <a:xfrm flipV="1">
            <a:off x="3140532" y="4923143"/>
            <a:ext cx="1073134" cy="499530"/>
          </a:xfrm>
          <a:prstGeom prst="bentConnector3">
            <a:avLst/>
          </a:prstGeom>
          <a:ln w="508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996953" y="3919494"/>
            <a:ext cx="19482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Register </a:t>
            </a:r>
            <a:r>
              <a:rPr lang="en-US" altLang="zh-TW" sz="2800" dirty="0" err="1" smtClean="0"/>
              <a:t>esp</a:t>
            </a:r>
            <a:endParaRPr lang="zh-TW" altLang="en-US" sz="28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4361192" y="2398501"/>
            <a:ext cx="14351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Memory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6042651" y="2398501"/>
            <a:ext cx="13517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Address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63496" y="5064084"/>
            <a:ext cx="2277036" cy="71717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1027901" y="5834026"/>
            <a:ext cx="19416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Register </a:t>
            </a:r>
            <a:r>
              <a:rPr lang="en-US" altLang="zh-TW" sz="2800" dirty="0" err="1" smtClean="0"/>
              <a:t>eax</a:t>
            </a:r>
            <a:endParaRPr lang="zh-TW" altLang="en-US" sz="2800" dirty="0"/>
          </a:p>
        </p:txBody>
      </p:sp>
      <p:cxnSp>
        <p:nvCxnSpPr>
          <p:cNvPr id="23" name="直線單箭頭接點 22"/>
          <p:cNvCxnSpPr>
            <a:stCxn id="14" idx="3"/>
            <a:endCxn id="8" idx="1"/>
          </p:cNvCxnSpPr>
          <p:nvPr/>
        </p:nvCxnSpPr>
        <p:spPr>
          <a:xfrm flipV="1">
            <a:off x="3109584" y="3496540"/>
            <a:ext cx="1104082" cy="11601"/>
          </a:xfrm>
          <a:prstGeom prst="straightConnector1">
            <a:avLst/>
          </a:prstGeom>
          <a:ln w="5715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905171" y="538146"/>
            <a:ext cx="7333658" cy="1815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28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lea</a:t>
            </a:r>
            <a:r>
              <a:rPr lang="en-US" altLang="zh-TW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altLang="zh-TW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[esp+8]</a:t>
            </a:r>
          </a:p>
          <a:p>
            <a:r>
              <a:rPr lang="en-US" altLang="zh-TW" sz="28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altLang="zh-TW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DWORD PTR [esp+12], </a:t>
            </a:r>
            <a:r>
              <a:rPr lang="en-US" altLang="zh-TW" sz="28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altLang="zh-TW" sz="2800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8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altLang="zh-TW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altLang="zh-TW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DWORD PTR [esp+12]</a:t>
            </a:r>
          </a:p>
          <a:p>
            <a:r>
              <a:rPr lang="en-US" altLang="zh-TW" sz="28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en-US" altLang="zh-TW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DWORD PTR [</a:t>
            </a:r>
            <a:r>
              <a:rPr lang="en-US" altLang="zh-TW" sz="2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altLang="zh-TW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altLang="zh-TW" sz="28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altLang="zh-TW" sz="28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121797" y="5064084"/>
            <a:ext cx="1760434" cy="717177"/>
          </a:xfrm>
          <a:prstGeom prst="rect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0" name="肘形接點 29"/>
          <p:cNvCxnSpPr>
            <a:stCxn id="6" idx="3"/>
            <a:endCxn id="5" idx="3"/>
          </p:cNvCxnSpPr>
          <p:nvPr/>
        </p:nvCxnSpPr>
        <p:spPr>
          <a:xfrm flipV="1">
            <a:off x="5952819" y="4923143"/>
            <a:ext cx="12700" cy="708219"/>
          </a:xfrm>
          <a:prstGeom prst="bentConnector3">
            <a:avLst>
              <a:gd name="adj1" fmla="val 18860874"/>
            </a:avLst>
          </a:prstGeom>
          <a:ln w="5715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4873890" y="4578184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>
                <a:solidFill>
                  <a:srgbClr val="FFFF00"/>
                </a:solidFill>
              </a:rPr>
              <a:t>3</a:t>
            </a:r>
            <a:endParaRPr lang="zh-TW" altLang="en-US" sz="3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5567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7.40741E-7 L 0.33768 0.02708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875" y="1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3768 0.02708 L 1.94444E-6 -7.40741E-7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858" y="-1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28" grpId="2" animBg="1"/>
      <p:bldP spid="28" grpId="3" animBg="1"/>
      <p:bldP spid="3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/>
              <a:t>C code</a:t>
            </a:r>
          </a:p>
          <a:p>
            <a:endParaRPr lang="en-US" altLang="zh-TW" dirty="0"/>
          </a:p>
          <a:p>
            <a:endParaRPr lang="en-US" altLang="zh-TW" sz="3200" dirty="0" smtClean="0"/>
          </a:p>
          <a:p>
            <a:pPr marL="0" indent="0">
              <a:buNone/>
            </a:pPr>
            <a:endParaRPr lang="en-US" altLang="zh-TW" sz="3200" dirty="0" smtClean="0"/>
          </a:p>
          <a:p>
            <a:r>
              <a:rPr lang="en-US" altLang="zh-TW" dirty="0" smtClean="0"/>
              <a:t>Assembly code</a:t>
            </a:r>
            <a:endParaRPr lang="en-US" altLang="zh-TW" dirty="0"/>
          </a:p>
          <a:p>
            <a:endParaRPr lang="zh-TW" altLang="en-US" sz="3200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10: array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2609021" y="1604812"/>
            <a:ext cx="430364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main(void</a:t>
            </a:r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TW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a[3];</a:t>
            </a:r>
            <a:endParaRPr lang="en-US" altLang="zh-TW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a[0</a:t>
            </a:r>
            <a:r>
              <a:rPr lang="pt-BR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] = 2;</a:t>
            </a:r>
          </a:p>
          <a:p>
            <a:r>
              <a:rPr lang="pt-BR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a[1] = -6;</a:t>
            </a:r>
          </a:p>
          <a:p>
            <a:r>
              <a:rPr lang="pt-BR" altLang="zh-TW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a[2] = 10000</a:t>
            </a:r>
            <a:r>
              <a:rPr lang="pt-BR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zh-TW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TW" alt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54156" y="4550274"/>
            <a:ext cx="7235687" cy="13849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TW" alt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zh-TW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DWORD PTR [esp+4], 2</a:t>
            </a:r>
          </a:p>
          <a:p>
            <a:r>
              <a:rPr lang="zh-TW" alt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zh-TW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DWORD PTR [esp+8], -6</a:t>
            </a:r>
          </a:p>
          <a:p>
            <a:r>
              <a:rPr lang="zh-TW" alt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mov</a:t>
            </a:r>
            <a:r>
              <a:rPr lang="zh-TW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DWORD PTR [esp+12], 10000</a:t>
            </a:r>
          </a:p>
        </p:txBody>
      </p:sp>
    </p:spTree>
    <p:extLst>
      <p:ext uri="{BB962C8B-B14F-4D97-AF65-F5344CB8AC3E}">
        <p14:creationId xmlns:p14="http://schemas.microsoft.com/office/powerpoint/2010/main" val="3501361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Array and pointer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</p:spPr>
        <p:txBody>
          <a:bodyPr/>
          <a:lstStyle/>
          <a:p>
            <a:fld id="{162F1D00-BD13-4404-86B0-79703945A0A7}" type="slidenum">
              <a:rPr lang="en-US" smtClean="0"/>
              <a:t>35</a:t>
            </a:fld>
            <a:endParaRPr lang="en-US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616481"/>
              </p:ext>
            </p:extLst>
          </p:nvPr>
        </p:nvGraphicFramePr>
        <p:xfrm>
          <a:off x="685806" y="1600200"/>
          <a:ext cx="7870372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186"/>
                <a:gridCol w="393518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Array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Pointer</a:t>
                      </a:r>
                      <a:endParaRPr lang="zh-TW" alt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baseline="0" dirty="0" smtClean="0"/>
                        <a:t> continuous space to store the data of the same data type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A space that stores the address of a specific</a:t>
                      </a:r>
                      <a:r>
                        <a:rPr lang="en-US" altLang="zh-TW" sz="2800" baseline="0" dirty="0" smtClean="0"/>
                        <a:t> type of data</a:t>
                      </a:r>
                      <a:endParaRPr lang="zh-TW" alt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a[2]: the third</a:t>
                      </a:r>
                      <a:r>
                        <a:rPr lang="en-US" altLang="zh-TW" sz="2800" baseline="0" dirty="0" smtClean="0"/>
                        <a:t> element in that continuous space</a:t>
                      </a:r>
                      <a:r>
                        <a:rPr lang="en-US" altLang="zh-TW" sz="2800" dirty="0" smtClean="0"/>
                        <a:t> 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*(pa+2): the element that is 2</a:t>
                      </a:r>
                      <a:r>
                        <a:rPr lang="en-US" altLang="zh-TW" sz="2800" baseline="0" dirty="0" smtClean="0"/>
                        <a:t> units away from the element pointed by pa</a:t>
                      </a:r>
                      <a:endParaRPr lang="zh-TW" alt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baseline="0" dirty="0" smtClean="0"/>
                        <a:t>n array a is a “reference” of a space, which cannot be changed.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A pointer pa can change its content to point to other addresses.</a:t>
                      </a:r>
                      <a:endParaRPr lang="zh-TW" altLang="en-US" sz="28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059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 code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/>
              <a:t>Assembly (call foo)</a:t>
            </a:r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11: function call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2400301" y="1600200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int foo(int a){</a:t>
            </a:r>
          </a:p>
          <a:p>
            <a:r>
              <a:rPr lang="zh-TW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a+1;</a:t>
            </a:r>
          </a:p>
          <a:p>
            <a:r>
              <a:rPr lang="zh-TW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zh-TW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main(void){</a:t>
            </a:r>
          </a:p>
          <a:p>
            <a:r>
              <a:rPr lang="zh-TW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foo(3);</a:t>
            </a:r>
          </a:p>
          <a:p>
            <a:r>
              <a:rPr lang="zh-TW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2286000" y="5244877"/>
            <a:ext cx="532311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mov	DWORD PTR [esp], 3</a:t>
            </a:r>
          </a:p>
          <a:p>
            <a:r>
              <a:rPr lang="zh-TW" altLang="en-US" sz="28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</a:t>
            </a:r>
            <a:r>
              <a:rPr lang="zh-TW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_foo</a:t>
            </a:r>
          </a:p>
        </p:txBody>
      </p:sp>
    </p:spTree>
    <p:extLst>
      <p:ext uri="{BB962C8B-B14F-4D97-AF65-F5344CB8AC3E}">
        <p14:creationId xmlns:p14="http://schemas.microsoft.com/office/powerpoint/2010/main" val="10961996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calling convention is a </a:t>
            </a:r>
            <a:r>
              <a:rPr lang="en-US" altLang="zh-TW" b="1" dirty="0"/>
              <a:t>protocol</a:t>
            </a:r>
            <a:r>
              <a:rPr lang="en-US" altLang="zh-TW" dirty="0"/>
              <a:t> about how to call and return from </a:t>
            </a:r>
            <a:r>
              <a:rPr lang="en-US" altLang="zh-TW" dirty="0" smtClean="0"/>
              <a:t>functions.</a:t>
            </a:r>
          </a:p>
          <a:p>
            <a:r>
              <a:rPr lang="en-US" altLang="zh-TW" dirty="0" smtClean="0"/>
              <a:t>Two instructions for function call and return</a:t>
            </a:r>
          </a:p>
          <a:p>
            <a:pPr lvl="1"/>
            <a:r>
              <a:rPr lang="en-US" altLang="zh-TW" b="1" dirty="0" smtClean="0"/>
              <a:t>Call</a:t>
            </a:r>
            <a:r>
              <a:rPr lang="en-US" altLang="zh-TW" dirty="0"/>
              <a:t>: </a:t>
            </a:r>
            <a:r>
              <a:rPr lang="en-US" altLang="zh-TW" dirty="0" smtClean="0"/>
              <a:t>push </a:t>
            </a:r>
            <a:r>
              <a:rPr lang="en-US" altLang="zh-TW" dirty="0"/>
              <a:t>the current code location onto the hardware supported </a:t>
            </a:r>
            <a:r>
              <a:rPr lang="en-US" altLang="zh-TW" dirty="0" smtClean="0">
                <a:solidFill>
                  <a:srgbClr val="FF0000"/>
                </a:solidFill>
              </a:rPr>
              <a:t>stack</a:t>
            </a:r>
            <a:r>
              <a:rPr lang="en-US" altLang="zh-TW" dirty="0"/>
              <a:t>;</a:t>
            </a:r>
            <a:r>
              <a:rPr lang="en-US" altLang="zh-TW" dirty="0" smtClean="0"/>
              <a:t> unconditional </a:t>
            </a:r>
            <a:r>
              <a:rPr lang="en-US" altLang="zh-TW" dirty="0"/>
              <a:t>jump to the code location indicated by the label operand.  </a:t>
            </a:r>
            <a:endParaRPr lang="en-US" altLang="zh-TW" dirty="0" smtClean="0"/>
          </a:p>
          <a:p>
            <a:pPr lvl="1"/>
            <a:r>
              <a:rPr lang="en-US" altLang="zh-TW" b="1" dirty="0" smtClean="0"/>
              <a:t>Ret</a:t>
            </a:r>
            <a:r>
              <a:rPr lang="en-US" altLang="zh-TW" dirty="0" smtClean="0"/>
              <a:t>: pop </a:t>
            </a:r>
            <a:r>
              <a:rPr lang="en-US" altLang="zh-TW" dirty="0"/>
              <a:t>the current code location </a:t>
            </a:r>
            <a:r>
              <a:rPr lang="en-US" altLang="zh-TW" dirty="0" smtClean="0"/>
              <a:t>from </a:t>
            </a:r>
            <a:r>
              <a:rPr lang="en-US" altLang="zh-TW" dirty="0"/>
              <a:t>the hardware supported </a:t>
            </a:r>
            <a:r>
              <a:rPr lang="en-US" altLang="zh-TW" dirty="0">
                <a:solidFill>
                  <a:srgbClr val="FF0000"/>
                </a:solidFill>
              </a:rPr>
              <a:t>stack</a:t>
            </a:r>
            <a:r>
              <a:rPr lang="en-US" altLang="zh-TW" dirty="0"/>
              <a:t>; unconditional jump to the </a:t>
            </a:r>
            <a:r>
              <a:rPr lang="en-US" altLang="zh-TW" dirty="0" smtClean="0"/>
              <a:t>popped code location. </a:t>
            </a:r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 </a:t>
            </a:r>
            <a:r>
              <a:rPr lang="en-US" altLang="zh-TW" dirty="0" smtClean="0"/>
              <a:t>language calling convention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</p:spPr>
        <p:txBody>
          <a:bodyPr/>
          <a:lstStyle/>
          <a:p>
            <a:fld id="{162F1D00-BD13-4404-86B0-79703945A0A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6528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33257"/>
          </a:xfrm>
        </p:spPr>
        <p:txBody>
          <a:bodyPr/>
          <a:lstStyle/>
          <a:p>
            <a:r>
              <a:rPr lang="en-US" altLang="zh-TW" dirty="0" smtClean="0"/>
              <a:t>A stack is a data structure that has two operations: push and pop</a:t>
            </a:r>
          </a:p>
          <a:p>
            <a:pPr lvl="1"/>
            <a:r>
              <a:rPr lang="en-US" altLang="zh-TW" dirty="0"/>
              <a:t>push adds an element to the collection;</a:t>
            </a:r>
          </a:p>
          <a:p>
            <a:pPr lvl="1"/>
            <a:r>
              <a:rPr lang="en-US" altLang="zh-TW" dirty="0"/>
              <a:t>pop removes the last element that was added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Elements are only </a:t>
            </a:r>
            <a:br>
              <a:rPr lang="en-US" altLang="zh-TW" dirty="0" smtClean="0"/>
            </a:br>
            <a:r>
              <a:rPr lang="en-US" altLang="zh-TW" dirty="0" smtClean="0"/>
              <a:t>allowed to be added and </a:t>
            </a:r>
            <a:br>
              <a:rPr lang="en-US" altLang="zh-TW" dirty="0" smtClean="0"/>
            </a:br>
            <a:r>
              <a:rPr lang="en-US" altLang="zh-TW" dirty="0" smtClean="0"/>
              <a:t>removed from the “top” of </a:t>
            </a:r>
            <a:br>
              <a:rPr lang="en-US" altLang="zh-TW" dirty="0" smtClean="0"/>
            </a:br>
            <a:r>
              <a:rPr lang="en-US" altLang="zh-TW" dirty="0" smtClean="0"/>
              <a:t>a stack</a:t>
            </a:r>
          </a:p>
          <a:p>
            <a:pPr lvl="1"/>
            <a:r>
              <a:rPr lang="en-US" altLang="zh-TW" dirty="0" smtClean="0"/>
              <a:t>First come last out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Stack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19236" y="3863181"/>
            <a:ext cx="4103075" cy="294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4090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199" y="1600200"/>
            <a:ext cx="8474529" cy="49149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x86 CPU has a hardware support stack</a:t>
            </a:r>
          </a:p>
          <a:p>
            <a:pPr lvl="1"/>
            <a:r>
              <a:rPr lang="en-US" altLang="zh-TW" dirty="0" smtClean="0"/>
              <a:t>Two instructions: push and pop</a:t>
            </a:r>
          </a:p>
          <a:p>
            <a:pPr lvl="1"/>
            <a:r>
              <a:rPr lang="en-US" altLang="zh-TW" dirty="0" smtClean="0"/>
              <a:t>Register </a:t>
            </a:r>
            <a:r>
              <a:rPr lang="en-US" altLang="zh-TW" dirty="0" err="1" smtClean="0"/>
              <a:t>esp</a:t>
            </a:r>
            <a:r>
              <a:rPr lang="en-US" altLang="zh-TW" dirty="0" smtClean="0"/>
              <a:t> (stack pointer): point to the stack top</a:t>
            </a:r>
          </a:p>
          <a:p>
            <a:pPr lvl="1"/>
            <a:r>
              <a:rPr lang="en-US" altLang="zh-TW" dirty="0"/>
              <a:t>Register </a:t>
            </a:r>
            <a:r>
              <a:rPr lang="en-US" altLang="zh-TW" dirty="0" err="1" smtClean="0"/>
              <a:t>ebp</a:t>
            </a:r>
            <a:r>
              <a:rPr lang="en-US" altLang="zh-TW" dirty="0" smtClean="0"/>
              <a:t> (base </a:t>
            </a:r>
            <a:r>
              <a:rPr lang="en-US" altLang="zh-TW" dirty="0"/>
              <a:t>pointer): point to the stack </a:t>
            </a:r>
            <a:r>
              <a:rPr lang="en-US" altLang="zh-TW" dirty="0" smtClean="0"/>
              <a:t>base</a:t>
            </a:r>
          </a:p>
          <a:p>
            <a:r>
              <a:rPr lang="en-US" altLang="zh-TW" dirty="0" smtClean="0"/>
              <a:t>Used for function calls</a:t>
            </a:r>
          </a:p>
          <a:p>
            <a:pPr lvl="1"/>
            <a:r>
              <a:rPr lang="en-US" altLang="zh-TW" dirty="0" smtClean="0"/>
              <a:t>Subroutine </a:t>
            </a:r>
            <a:r>
              <a:rPr lang="en-US" altLang="zh-TW" dirty="0"/>
              <a:t>parameters are passed on the stack.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Registers </a:t>
            </a:r>
            <a:r>
              <a:rPr lang="en-US" altLang="zh-TW" dirty="0"/>
              <a:t>are saved on the stack, and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local </a:t>
            </a:r>
            <a:r>
              <a:rPr lang="en-US" altLang="zh-TW" dirty="0"/>
              <a:t>variables used by subroutines are placed in memory on the stack</a:t>
            </a:r>
            <a:r>
              <a:rPr lang="en-US" altLang="zh-TW" dirty="0" smtClean="0"/>
              <a:t>.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Hardware supported stack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716911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5192486"/>
            <a:ext cx="8229600" cy="1162277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Caller: the one makes the function call</a:t>
            </a:r>
          </a:p>
          <a:p>
            <a:r>
              <a:rPr lang="en-US" altLang="zh-TW" dirty="0" err="1" smtClean="0"/>
              <a:t>Callee</a:t>
            </a:r>
            <a:r>
              <a:rPr lang="en-US" altLang="zh-TW" dirty="0" smtClean="0"/>
              <a:t>: the called function 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flow of a function call</a:t>
            </a:r>
            <a:endParaRPr lang="zh-TW" altLang="en-US" dirty="0"/>
          </a:p>
        </p:txBody>
      </p:sp>
      <p:graphicFrame>
        <p:nvGraphicFramePr>
          <p:cNvPr id="5" name="資料庫圖表 4"/>
          <p:cNvGraphicFramePr/>
          <p:nvPr>
            <p:extLst>
              <p:ext uri="{D42A27DB-BD31-4B8C-83A1-F6EECF244321}">
                <p14:modId xmlns:p14="http://schemas.microsoft.com/office/powerpoint/2010/main" val="2940419977"/>
              </p:ext>
            </p:extLst>
          </p:nvPr>
        </p:nvGraphicFramePr>
        <p:xfrm>
          <a:off x="2002971" y="1426709"/>
          <a:ext cx="6096000" cy="356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25898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Before calling a </a:t>
            </a:r>
            <a:r>
              <a:rPr lang="en-US" altLang="zh-TW" dirty="0" smtClean="0"/>
              <a:t>function, </a:t>
            </a:r>
            <a:r>
              <a:rPr lang="en-US" altLang="zh-TW" b="1" dirty="0" smtClean="0"/>
              <a:t>push</a:t>
            </a:r>
            <a:r>
              <a:rPr lang="en-US" altLang="zh-TW" dirty="0" smtClean="0"/>
              <a:t> </a:t>
            </a:r>
            <a:r>
              <a:rPr lang="en-US" altLang="zh-TW" dirty="0"/>
              <a:t>the contents of certain </a:t>
            </a:r>
            <a:r>
              <a:rPr lang="en-US" altLang="zh-TW" dirty="0" smtClean="0"/>
              <a:t>registers to the stack. </a:t>
            </a:r>
          </a:p>
          <a:p>
            <a:pPr lvl="1"/>
            <a:r>
              <a:rPr lang="en-US" altLang="zh-TW" dirty="0"/>
              <a:t>The caller-saved registers are EAX, ECX, EDX.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To pass parameters to the subroutine, </a:t>
            </a:r>
            <a:r>
              <a:rPr lang="en-US" altLang="zh-TW" b="1" dirty="0"/>
              <a:t>push</a:t>
            </a:r>
            <a:r>
              <a:rPr lang="en-US" altLang="zh-TW" dirty="0"/>
              <a:t> them onto the stack before the call.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To call the </a:t>
            </a:r>
            <a:r>
              <a:rPr lang="en-US" altLang="zh-TW" dirty="0" smtClean="0"/>
              <a:t>function, </a:t>
            </a:r>
            <a:r>
              <a:rPr lang="en-US" altLang="zh-TW" dirty="0"/>
              <a:t>use the </a:t>
            </a:r>
            <a:r>
              <a:rPr lang="en-US" altLang="zh-TW" b="1" dirty="0"/>
              <a:t>call</a:t>
            </a:r>
            <a:r>
              <a:rPr lang="en-US" altLang="zh-TW" dirty="0"/>
              <a:t> </a:t>
            </a:r>
            <a:r>
              <a:rPr lang="en-US" altLang="zh-TW" dirty="0" smtClean="0"/>
              <a:t>instruction.</a:t>
            </a:r>
          </a:p>
          <a:p>
            <a:pPr lvl="1"/>
            <a:r>
              <a:rPr lang="en-US" altLang="zh-TW" dirty="0" smtClean="0"/>
              <a:t>Instruction </a:t>
            </a:r>
            <a:r>
              <a:rPr lang="en-US" altLang="zh-TW" b="1" dirty="0" smtClean="0"/>
              <a:t>call</a:t>
            </a:r>
            <a:r>
              <a:rPr lang="en-US" altLang="zh-TW" dirty="0" smtClean="0"/>
              <a:t> pushes </a:t>
            </a:r>
            <a:r>
              <a:rPr lang="en-US" altLang="zh-TW" dirty="0"/>
              <a:t>the return address on top of the parameters on the stack, and </a:t>
            </a:r>
            <a:r>
              <a:rPr lang="en-US" altLang="zh-TW" dirty="0" smtClean="0"/>
              <a:t>jumps </a:t>
            </a:r>
            <a:r>
              <a:rPr lang="en-US" altLang="zh-TW" dirty="0"/>
              <a:t>to the </a:t>
            </a:r>
            <a:r>
              <a:rPr lang="en-US" altLang="zh-TW" dirty="0" smtClean="0"/>
              <a:t>function </a:t>
            </a:r>
            <a:r>
              <a:rPr lang="en-US" altLang="zh-TW" dirty="0"/>
              <a:t>code. </a:t>
            </a:r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Caller </a:t>
            </a:r>
            <a:r>
              <a:rPr lang="en-US" altLang="zh-TW" dirty="0" smtClean="0"/>
              <a:t>rules to call function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</p:spPr>
        <p:txBody>
          <a:bodyPr/>
          <a:lstStyle/>
          <a:p>
            <a:fld id="{162F1D00-BD13-4404-86B0-79703945A0A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635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Push the value of EBP onto the stack, and </a:t>
            </a:r>
            <a:r>
              <a:rPr lang="en-US" altLang="zh-TW" dirty="0" smtClean="0"/>
              <a:t>copy </a:t>
            </a:r>
            <a:r>
              <a:rPr lang="en-US" altLang="zh-TW" dirty="0"/>
              <a:t>the value of ESP into </a:t>
            </a:r>
            <a:r>
              <a:rPr lang="en-US" altLang="zh-TW" dirty="0" smtClean="0"/>
              <a:t>EBP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Allocate </a:t>
            </a:r>
            <a:r>
              <a:rPr lang="en-US" altLang="zh-TW" b="1" dirty="0"/>
              <a:t>local variables</a:t>
            </a:r>
            <a:r>
              <a:rPr lang="en-US" altLang="zh-TW" dirty="0"/>
              <a:t> by making space on the stack</a:t>
            </a:r>
            <a:r>
              <a:rPr lang="en-US" altLang="zh-TW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Push </a:t>
            </a:r>
            <a:r>
              <a:rPr lang="en-US" altLang="zh-TW" dirty="0"/>
              <a:t>the values of the </a:t>
            </a:r>
            <a:r>
              <a:rPr lang="en-US" altLang="zh-TW" dirty="0" err="1"/>
              <a:t>callee</a:t>
            </a:r>
            <a:r>
              <a:rPr lang="en-US" altLang="zh-TW" dirty="0"/>
              <a:t>-saved registers that will be used by the function. </a:t>
            </a:r>
            <a:endParaRPr lang="en-US" altLang="zh-TW" dirty="0" smtClean="0"/>
          </a:p>
          <a:p>
            <a:pPr lvl="1"/>
            <a:r>
              <a:rPr lang="en-US" altLang="zh-TW" dirty="0"/>
              <a:t>The </a:t>
            </a:r>
            <a:r>
              <a:rPr lang="en-US" altLang="zh-TW" dirty="0" err="1"/>
              <a:t>callee</a:t>
            </a:r>
            <a:r>
              <a:rPr lang="en-US" altLang="zh-TW" dirty="0"/>
              <a:t>-saved registers are EBX, EDI, and ESI 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Callee</a:t>
            </a:r>
            <a:r>
              <a:rPr lang="en-US" altLang="zh-TW" dirty="0"/>
              <a:t> </a:t>
            </a:r>
            <a:r>
              <a:rPr lang="en-US" altLang="zh-TW" dirty="0" smtClean="0"/>
              <a:t>rules to start a function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634137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Function call memory layout</a:t>
            </a:r>
            <a:endParaRPr lang="zh-TW" altLang="en-US" dirty="0"/>
          </a:p>
        </p:txBody>
      </p:sp>
      <p:pic>
        <p:nvPicPr>
          <p:cNvPr id="1026" name="Picture 2" descr="http://www.cs.virginia.edu/~evans/cs216/guides/stack-conven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232" y="1569016"/>
            <a:ext cx="6858000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97567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Leave the return value in EAX</a:t>
            </a:r>
            <a:r>
              <a:rPr lang="en-US" altLang="zh-TW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Restore the old values of any </a:t>
            </a:r>
            <a:r>
              <a:rPr lang="en-US" altLang="zh-TW" dirty="0" err="1"/>
              <a:t>callee</a:t>
            </a:r>
            <a:r>
              <a:rPr lang="en-US" altLang="zh-TW" dirty="0"/>
              <a:t>-saved registers (EDI and ESI) that were modified. 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zh-TW" dirty="0" err="1"/>
              <a:t>Deallocate</a:t>
            </a:r>
            <a:r>
              <a:rPr lang="en-US" altLang="zh-TW" dirty="0"/>
              <a:t> local variables</a:t>
            </a:r>
            <a:r>
              <a:rPr lang="en-US" altLang="zh-TW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Before </a:t>
            </a:r>
            <a:r>
              <a:rPr lang="en-US" altLang="zh-TW" dirty="0"/>
              <a:t>returning, restore the caller's base pointer value by popping EBP off the stack</a:t>
            </a:r>
            <a:r>
              <a:rPr lang="en-US" altLang="zh-TW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Return </a:t>
            </a:r>
            <a:r>
              <a:rPr lang="en-US" altLang="zh-TW" dirty="0"/>
              <a:t>to the caller by executing a </a:t>
            </a:r>
            <a:r>
              <a:rPr lang="en-US" altLang="zh-TW" b="1" dirty="0"/>
              <a:t>ret</a:t>
            </a:r>
            <a:r>
              <a:rPr lang="en-US" altLang="zh-TW" dirty="0"/>
              <a:t> instruction. </a:t>
            </a:r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Callee</a:t>
            </a:r>
            <a:r>
              <a:rPr lang="en-US" altLang="zh-TW" dirty="0" smtClean="0"/>
              <a:t> rules to return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</p:spPr>
        <p:txBody>
          <a:bodyPr/>
          <a:lstStyle/>
          <a:p>
            <a:fld id="{162F1D00-BD13-4404-86B0-79703945A0A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264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16929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Find </a:t>
            </a:r>
            <a:r>
              <a:rPr lang="en-US" altLang="zh-TW" dirty="0"/>
              <a:t>the return value of </a:t>
            </a:r>
            <a:r>
              <a:rPr lang="en-US" altLang="zh-TW" dirty="0" smtClean="0"/>
              <a:t>function </a:t>
            </a:r>
            <a:r>
              <a:rPr lang="en-US" altLang="zh-TW" dirty="0"/>
              <a:t>in the register EAX. </a:t>
            </a:r>
          </a:p>
          <a:p>
            <a:r>
              <a:rPr lang="en-US" altLang="zh-TW" dirty="0"/>
              <a:t>Remove the parameters from stack.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This </a:t>
            </a:r>
            <a:r>
              <a:rPr lang="en-US" altLang="zh-TW" dirty="0"/>
              <a:t>restores the stack to its state before the call was performed.</a:t>
            </a:r>
          </a:p>
          <a:p>
            <a:r>
              <a:rPr lang="en-US" altLang="zh-TW" dirty="0" smtClean="0"/>
              <a:t>Pop </a:t>
            </a:r>
            <a:r>
              <a:rPr lang="en-US" altLang="zh-TW" dirty="0"/>
              <a:t>off </a:t>
            </a:r>
            <a:r>
              <a:rPr lang="en-US" altLang="zh-TW" dirty="0" smtClean="0"/>
              <a:t>the </a:t>
            </a:r>
            <a:r>
              <a:rPr lang="en-US" altLang="zh-TW" dirty="0"/>
              <a:t>contents of caller-saved registers (EAX, ECX, EDX</a:t>
            </a:r>
            <a:r>
              <a:rPr lang="en-US" altLang="zh-TW" dirty="0" smtClean="0"/>
              <a:t>) from </a:t>
            </a:r>
            <a:r>
              <a:rPr lang="en-US" altLang="zh-TW" dirty="0"/>
              <a:t>the stack.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caller can assume that no other registers were modified by the </a:t>
            </a:r>
            <a:r>
              <a:rPr lang="en-US" altLang="zh-TW" dirty="0" err="1" smtClean="0"/>
              <a:t>callee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Caller rules to restore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014111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>
                <a:hlinkClick r:id="rId2"/>
              </a:rPr>
              <a:t>http://www.cs.virginia.edu/~</a:t>
            </a:r>
            <a:r>
              <a:rPr lang="en-US" altLang="zh-TW" sz="2400" dirty="0" smtClean="0">
                <a:hlinkClick r:id="rId2"/>
              </a:rPr>
              <a:t>evans/cs216/guides/x86.html</a:t>
            </a:r>
            <a:endParaRPr lang="en-US" altLang="zh-TW" sz="2400" dirty="0" smtClean="0"/>
          </a:p>
          <a:p>
            <a:r>
              <a:rPr lang="en-US" altLang="zh-TW" sz="2400" dirty="0">
                <a:hlinkClick r:id="rId3"/>
              </a:rPr>
              <a:t>http://</a:t>
            </a:r>
            <a:r>
              <a:rPr lang="en-US" altLang="zh-TW" sz="2400" dirty="0" smtClean="0">
                <a:hlinkClick r:id="rId3"/>
              </a:rPr>
              <a:t>www.nasm.us/pub/nasm/releasebuilds/2.09.02/win32/nasm-2.09.02-win32.zip</a:t>
            </a:r>
            <a:endParaRPr lang="en-US" altLang="zh-TW" sz="2400" dirty="0" smtClean="0"/>
          </a:p>
          <a:p>
            <a:r>
              <a:rPr lang="en-US" altLang="zh-TW" sz="2400" dirty="0">
                <a:hlinkClick r:id="rId4"/>
              </a:rPr>
              <a:t>http://eli.thegreenplace.net/2011/02/04/where-the-top-of-the-stack-is-on-x86</a:t>
            </a:r>
            <a:r>
              <a:rPr lang="en-US" altLang="zh-TW" sz="2400" dirty="0" smtClean="0">
                <a:hlinkClick r:id="rId4"/>
              </a:rPr>
              <a:t>/</a:t>
            </a:r>
            <a:r>
              <a:rPr lang="en-US" altLang="zh-TW" sz="2400" dirty="0" smtClean="0"/>
              <a:t> </a:t>
            </a:r>
          </a:p>
          <a:p>
            <a:r>
              <a:rPr lang="en-US" altLang="zh-TW" sz="2400" dirty="0">
                <a:hlinkClick r:id="rId5"/>
              </a:rPr>
              <a:t>http://</a:t>
            </a:r>
            <a:r>
              <a:rPr lang="en-US" altLang="zh-TW" sz="2400" dirty="0" smtClean="0">
                <a:hlinkClick r:id="rId5"/>
              </a:rPr>
              <a:t>www.ibiblio.org/gferg/ldp/GCC-Inline-Assembly-HOWTO.html</a:t>
            </a:r>
            <a:r>
              <a:rPr lang="en-US" altLang="zh-TW" sz="2400" dirty="0" smtClean="0"/>
              <a:t> </a:t>
            </a:r>
          </a:p>
          <a:p>
            <a:r>
              <a:rPr lang="en-US" altLang="zh-TW" sz="2400" dirty="0">
                <a:hlinkClick r:id="rId6"/>
              </a:rPr>
              <a:t>http://</a:t>
            </a:r>
            <a:r>
              <a:rPr lang="en-US" altLang="zh-TW" sz="2400" dirty="0" smtClean="0">
                <a:hlinkClick r:id="rId6"/>
              </a:rPr>
              <a:t>ccckmit.wikidot.com/as:inlinec</a:t>
            </a:r>
            <a:r>
              <a:rPr lang="en-US" altLang="zh-TW" sz="2400" dirty="0" smtClean="0"/>
              <a:t> </a:t>
            </a:r>
          </a:p>
          <a:p>
            <a:pPr lvl="1"/>
            <a:r>
              <a:rPr lang="zh-TW" altLang="en-US" sz="2000" dirty="0"/>
              <a:t>陳鍾誠 </a:t>
            </a:r>
            <a:r>
              <a:rPr lang="en-US" altLang="zh-TW" sz="2000" dirty="0"/>
              <a:t>(2010</a:t>
            </a:r>
            <a:r>
              <a:rPr lang="zh-TW" altLang="en-US" sz="2000" dirty="0"/>
              <a:t>年</a:t>
            </a:r>
            <a:r>
              <a:rPr lang="en-US" altLang="zh-TW" sz="2000" dirty="0"/>
              <a:t>10</a:t>
            </a:r>
            <a:r>
              <a:rPr lang="zh-TW" altLang="en-US" sz="2000" dirty="0"/>
              <a:t>月</a:t>
            </a:r>
            <a:r>
              <a:rPr lang="en-US" altLang="zh-TW" sz="2000" dirty="0"/>
              <a:t>11</a:t>
            </a:r>
            <a:r>
              <a:rPr lang="zh-TW" altLang="en-US" sz="2000" dirty="0"/>
              <a:t>日</a:t>
            </a:r>
            <a:r>
              <a:rPr lang="en-US" altLang="zh-TW" sz="2000" dirty="0"/>
              <a:t>)</a:t>
            </a:r>
            <a:r>
              <a:rPr lang="zh-TW" altLang="en-US" sz="2000" dirty="0"/>
              <a:t>，</a:t>
            </a:r>
            <a:r>
              <a:rPr lang="en-US" altLang="zh-TW" sz="2000" dirty="0"/>
              <a:t>(</a:t>
            </a:r>
            <a:r>
              <a:rPr lang="zh-TW" altLang="en-US" sz="2000" dirty="0"/>
              <a:t>網頁標題</a:t>
            </a:r>
            <a:r>
              <a:rPr lang="en-US" altLang="zh-TW" sz="2000" dirty="0"/>
              <a:t>) </a:t>
            </a:r>
            <a:r>
              <a:rPr lang="zh-TW" altLang="en-US" sz="2000" dirty="0"/>
              <a:t>組合語言 </a:t>
            </a:r>
            <a:r>
              <a:rPr lang="en-US" altLang="zh-TW" sz="2000" dirty="0"/>
              <a:t>— </a:t>
            </a:r>
            <a:r>
              <a:rPr lang="zh-TW" altLang="en-US" sz="2000" dirty="0"/>
              <a:t>在 </a:t>
            </a:r>
            <a:r>
              <a:rPr lang="en-US" altLang="zh-TW" sz="2000" dirty="0"/>
              <a:t>C </a:t>
            </a:r>
            <a:r>
              <a:rPr lang="zh-TW" altLang="en-US" sz="2000" dirty="0"/>
              <a:t>語言當中內嵌組合語言，</a:t>
            </a:r>
            <a:r>
              <a:rPr lang="en-US" altLang="zh-TW" sz="2000" dirty="0"/>
              <a:t>(</a:t>
            </a:r>
            <a:r>
              <a:rPr lang="zh-TW" altLang="en-US" sz="2000" dirty="0"/>
              <a:t>網站標題</a:t>
            </a:r>
            <a:r>
              <a:rPr lang="en-US" altLang="zh-TW" sz="2000" dirty="0"/>
              <a:t>) </a:t>
            </a:r>
            <a:r>
              <a:rPr lang="zh-TW" altLang="en-US" sz="2000" dirty="0"/>
              <a:t>陳鍾誠的網站，取自</a:t>
            </a:r>
            <a:r>
              <a:rPr lang="en-US" altLang="zh-TW" sz="2000" dirty="0">
                <a:hlinkClick r:id="rId6"/>
              </a:rPr>
              <a:t>http://ccckmit.wikidot.com/as:inlinec</a:t>
            </a:r>
            <a:r>
              <a:rPr lang="zh-TW" altLang="en-US" sz="2000" dirty="0"/>
              <a:t> ，網頁修改第 </a:t>
            </a:r>
            <a:r>
              <a:rPr lang="en-US" altLang="zh-TW" sz="2000" dirty="0"/>
              <a:t>0 </a:t>
            </a:r>
            <a:r>
              <a:rPr lang="zh-TW" altLang="en-US" sz="2000" dirty="0"/>
              <a:t>版。</a:t>
            </a:r>
            <a:endParaRPr lang="en-US" altLang="zh-TW" sz="2000" dirty="0" smtClean="0"/>
          </a:p>
          <a:p>
            <a:endParaRPr lang="zh-TW" altLang="en-US" sz="24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References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0740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8517</TotalTime>
  <Words>2026</Words>
  <Application>Microsoft Office PowerPoint</Application>
  <PresentationFormat>On-screen Show (4:3)</PresentationFormat>
  <Paragraphs>443</Paragraphs>
  <Slides>46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佈景主題</vt:lpstr>
      <vt:lpstr>Introduction to Programming(II) Assembly</vt:lpstr>
      <vt:lpstr>Outline</vt:lpstr>
      <vt:lpstr>How to get Assembly code?</vt:lpstr>
      <vt:lpstr>What is assembly?</vt:lpstr>
      <vt:lpstr>How to get the assembly code?</vt:lpstr>
      <vt:lpstr>From C to Assembly code</vt:lpstr>
      <vt:lpstr>Example 1: assignment 1</vt:lpstr>
      <vt:lpstr>MOV instruction</vt:lpstr>
      <vt:lpstr>Example 2: assignment 2</vt:lpstr>
      <vt:lpstr>Registers in x86 CPU</vt:lpstr>
      <vt:lpstr>Indirect memory access</vt:lpstr>
      <vt:lpstr>Analogy of seat arrangement</vt:lpstr>
      <vt:lpstr>Global variable vs. local variable</vt:lpstr>
      <vt:lpstr>Example 3: assignment 3</vt:lpstr>
      <vt:lpstr>Syntax of MOV</vt:lpstr>
      <vt:lpstr>Example 4: Add</vt:lpstr>
      <vt:lpstr>ADD instruction</vt:lpstr>
      <vt:lpstr>Example 5: If-else</vt:lpstr>
      <vt:lpstr>Cmp and jle instructions</vt:lpstr>
      <vt:lpstr> Conditional jump</vt:lpstr>
      <vt:lpstr>Instruction pointer (IP)</vt:lpstr>
      <vt:lpstr>Example 6: while loop</vt:lpstr>
      <vt:lpstr>jmp instruction</vt:lpstr>
      <vt:lpstr>Different implementation</vt:lpstr>
      <vt:lpstr>GCC Inline Assembly </vt:lpstr>
      <vt:lpstr>Combine C and assembly</vt:lpstr>
      <vt:lpstr>Basic structure of inline assembly</vt:lpstr>
      <vt:lpstr>Example 7: inline assembly</vt:lpstr>
      <vt:lpstr>Advanced syntaxes in assembly</vt:lpstr>
      <vt:lpstr>Example 8: pointer</vt:lpstr>
      <vt:lpstr>lea instruction</vt:lpstr>
      <vt:lpstr>Example 9: pointer 2</vt:lpstr>
      <vt:lpstr>PowerPoint Presentation</vt:lpstr>
      <vt:lpstr>Example 10: array</vt:lpstr>
      <vt:lpstr>Array and pointer</vt:lpstr>
      <vt:lpstr>Example 11: function call</vt:lpstr>
      <vt:lpstr>C language calling convention</vt:lpstr>
      <vt:lpstr>Stack</vt:lpstr>
      <vt:lpstr>Hardware supported stack</vt:lpstr>
      <vt:lpstr>The flow of a function call</vt:lpstr>
      <vt:lpstr>Caller rules to call function</vt:lpstr>
      <vt:lpstr>Callee rules to start a function</vt:lpstr>
      <vt:lpstr>Function call memory layout</vt:lpstr>
      <vt:lpstr>Callee rules to return</vt:lpstr>
      <vt:lpstr>Caller rules to restore </vt:lpstr>
      <vt:lpstr>References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虛擬化技術</dc:title>
  <dc:creator>Mac</dc:creator>
  <cp:lastModifiedBy>noname</cp:lastModifiedBy>
  <cp:revision>2274</cp:revision>
  <dcterms:created xsi:type="dcterms:W3CDTF">2014-08-19T02:20:21Z</dcterms:created>
  <dcterms:modified xsi:type="dcterms:W3CDTF">2016-03-29T02:15:42Z</dcterms:modified>
</cp:coreProperties>
</file>